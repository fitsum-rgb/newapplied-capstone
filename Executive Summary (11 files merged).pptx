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83505" y="2479294"/>
            <a:ext cx="2824988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-110236"/>
            <a:ext cx="10358120" cy="1732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6916"/>
            <a:ext cx="10214610" cy="2003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watch?v=dLQ2tZEH6G0" TargetMode="External"/><Relationship Id="rId3" Type="http://schemas.openxmlformats.org/officeDocument/2006/relationships/hyperlink" Target="http://www.space.com/2196-spacex-inaugural-" TargetMode="External"/><Relationship Id="rId7" Type="http://schemas.openxmlformats.org/officeDocument/2006/relationships/hyperlink" Target="http://www.spacex.com/news/2013/02/11/falcon-1-" TargetMode="External"/><Relationship Id="rId2" Type="http://schemas.openxmlformats.org/officeDocument/2006/relationships/hyperlink" Target="http://www.youtube.com/watch?v=0a_00nJ_Y8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v0w9p3U8860" TargetMode="External"/><Relationship Id="rId11" Type="http://schemas.openxmlformats.org/officeDocument/2006/relationships/hyperlink" Target="http://www.spacex.com/news/2013/02/12/falcon-1-" TargetMode="External"/><Relationship Id="rId5" Type="http://schemas.openxmlformats.org/officeDocument/2006/relationships/hyperlink" Target="http://www.space.com/3590-spacex-falcon-1-" TargetMode="External"/><Relationship Id="rId10" Type="http://schemas.openxmlformats.org/officeDocument/2006/relationships/hyperlink" Target="http://www.youtube.com/watch?v=yTaIDooc8Og" TargetMode="External"/><Relationship Id="rId4" Type="http://schemas.openxmlformats.org/officeDocument/2006/relationships/hyperlink" Target="http://www.youtube.com/watch?v=Lk4zQ2wP-Nc" TargetMode="External"/><Relationship Id="rId9" Type="http://schemas.openxmlformats.org/officeDocument/2006/relationships/hyperlink" Target="http://www.spacex.com/press/2012/12/19/spacexs-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8461" y="940434"/>
            <a:ext cx="3274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/>
              <a:t>Executive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/>
              <a:t>Summary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2063625"/>
            <a:ext cx="8376284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Aptos"/>
                <a:cs typeface="Aptos"/>
              </a:rPr>
              <a:t>The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assignment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underscored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working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with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SpaceX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launch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data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to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be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gathered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from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an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API,</a:t>
            </a:r>
            <a:endParaRPr sz="17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994" y="2244982"/>
            <a:ext cx="86156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Aptos"/>
                <a:cs typeface="Aptos"/>
              </a:rPr>
              <a:t>specifically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Space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X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Rest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API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focused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if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SpaceX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will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reuse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first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stage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to</a:t>
            </a:r>
            <a:r>
              <a:rPr sz="1700" spc="2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price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of</a:t>
            </a:r>
            <a:endParaRPr sz="170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994" y="2426340"/>
            <a:ext cx="887920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Aptos"/>
                <a:cs typeface="Aptos"/>
              </a:rPr>
              <a:t>each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launch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through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gathering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information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about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space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x.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Overall,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it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is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expected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that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API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will</a:t>
            </a:r>
            <a:endParaRPr sz="17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2994" y="2607697"/>
            <a:ext cx="830580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Aptos"/>
                <a:cs typeface="Aptos"/>
              </a:rPr>
              <a:t>give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data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about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launches,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including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information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about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rocket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used,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payload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delivered,</a:t>
            </a:r>
            <a:endParaRPr sz="1700">
              <a:latin typeface="Aptos"/>
              <a:cs typeface="Apto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994" y="2789054"/>
            <a:ext cx="6281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Aptos"/>
                <a:cs typeface="Aptos"/>
              </a:rPr>
              <a:t>launch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specifications,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landing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specifications,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and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landing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outcome.</a:t>
            </a:r>
            <a:endParaRPr sz="1700">
              <a:latin typeface="Aptos"/>
              <a:cs typeface="Apto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994" y="3097159"/>
            <a:ext cx="820547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75" dirty="0">
                <a:latin typeface="Aptos"/>
                <a:cs typeface="Aptos"/>
              </a:rPr>
              <a:t>To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this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end,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methods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used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to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undertake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assignment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include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data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collection,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data</a:t>
            </a:r>
            <a:endParaRPr sz="1700">
              <a:latin typeface="Aptos"/>
              <a:cs typeface="Apto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2994" y="3278511"/>
            <a:ext cx="873696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Aptos"/>
                <a:cs typeface="Aptos"/>
              </a:rPr>
              <a:t>wrangling,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exploratory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data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analysis,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EDA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with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visualization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lab,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interactive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visual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analytics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and</a:t>
            </a:r>
            <a:endParaRPr sz="1700">
              <a:latin typeface="Aptos"/>
              <a:cs typeface="Apt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994" y="3459863"/>
            <a:ext cx="33153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Aptos"/>
                <a:cs typeface="Aptos"/>
              </a:rPr>
              <a:t>dashboard,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and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predictive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analysis.</a:t>
            </a:r>
            <a:endParaRPr sz="1700">
              <a:latin typeface="Aptos"/>
              <a:cs typeface="Apto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994" y="3767714"/>
            <a:ext cx="89128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ptos"/>
                <a:cs typeface="Aptos"/>
              </a:rPr>
              <a:t>In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general,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success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rate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since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2013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kept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increasing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till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2020.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There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were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no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rockets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launched</a:t>
            </a:r>
            <a:endParaRPr sz="1700">
              <a:latin typeface="Aptos"/>
              <a:cs typeface="Apto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2994" y="3949066"/>
            <a:ext cx="85426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ptos"/>
                <a:cs typeface="Aptos"/>
              </a:rPr>
              <a:t>for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heavypayloadmass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(greater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than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1000)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for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VAFB-</a:t>
            </a:r>
            <a:r>
              <a:rPr sz="1700" spc="-30" dirty="0">
                <a:latin typeface="Aptos"/>
                <a:cs typeface="Aptos"/>
              </a:rPr>
              <a:t>SLC.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Success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seems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to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be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related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to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the</a:t>
            </a:r>
            <a:endParaRPr sz="1700">
              <a:latin typeface="Aptos"/>
              <a:cs typeface="Apt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02994" y="4130418"/>
            <a:ext cx="84899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ptos"/>
                <a:cs typeface="Aptos"/>
              </a:rPr>
              <a:t>number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of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flights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on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LEO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Orbit.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Aptos"/>
                <a:cs typeface="Aptos"/>
              </a:rPr>
              <a:t>However,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there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no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relationship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between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flight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number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and</a:t>
            </a:r>
            <a:endParaRPr sz="1700">
              <a:latin typeface="Aptos"/>
              <a:cs typeface="Apto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2994" y="4311465"/>
            <a:ext cx="86296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latin typeface="Aptos"/>
                <a:cs typeface="Aptos"/>
              </a:rPr>
              <a:t>success.</a:t>
            </a:r>
            <a:endParaRPr sz="1700">
              <a:latin typeface="Aptos"/>
              <a:cs typeface="Apto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2994" y="4621521"/>
            <a:ext cx="89833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ptos"/>
                <a:cs typeface="Aptos"/>
              </a:rPr>
              <a:t>The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record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on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test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template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was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18.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After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selecting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best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hyperparameters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for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decision</a:t>
            </a:r>
            <a:endParaRPr sz="1700">
              <a:latin typeface="Aptos"/>
              <a:cs typeface="Apto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02994" y="4802878"/>
            <a:ext cx="83788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ptos"/>
                <a:cs typeface="Aptos"/>
              </a:rPr>
              <a:t>tree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classifier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using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validation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data,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accuracy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achieved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test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data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was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83.3%.</a:t>
            </a:r>
            <a:endParaRPr sz="1700">
              <a:latin typeface="Aptos"/>
              <a:cs typeface="Apto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2994" y="5110729"/>
            <a:ext cx="88245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latin typeface="Aptos"/>
                <a:cs typeface="Aptos"/>
              </a:rPr>
              <a:t>Furthermore,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assignment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uncovered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names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of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unique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launch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sites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in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space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mission</a:t>
            </a:r>
            <a:endParaRPr sz="1700">
              <a:latin typeface="Aptos"/>
              <a:cs typeface="Apto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02994" y="5292081"/>
            <a:ext cx="88334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ptos"/>
                <a:cs typeface="Aptos"/>
              </a:rPr>
              <a:t>include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CCAFS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SLC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-</a:t>
            </a:r>
            <a:r>
              <a:rPr sz="1700" dirty="0">
                <a:latin typeface="Aptos"/>
                <a:cs typeface="Aptos"/>
              </a:rPr>
              <a:t>40,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KSL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LC39,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VAFB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SLC-</a:t>
            </a:r>
            <a:r>
              <a:rPr sz="1700" dirty="0">
                <a:latin typeface="Aptos"/>
                <a:cs typeface="Aptos"/>
              </a:rPr>
              <a:t>4E,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CCAFS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LC-</a:t>
            </a:r>
            <a:r>
              <a:rPr sz="1700" dirty="0">
                <a:latin typeface="Aptos"/>
                <a:cs typeface="Aptos"/>
              </a:rPr>
              <a:t>40.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Aptos"/>
                <a:cs typeface="Aptos"/>
              </a:rPr>
              <a:t>Total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payload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mass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carried</a:t>
            </a:r>
            <a:endParaRPr sz="1700">
              <a:latin typeface="Aptos"/>
              <a:cs typeface="Apto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2994" y="5473388"/>
            <a:ext cx="88614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ptos"/>
                <a:cs typeface="Aptos"/>
              </a:rPr>
              <a:t>by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boosters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launched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by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NASA(CRS)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is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44,903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and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average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payload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mass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by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booster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version</a:t>
            </a:r>
            <a:endParaRPr sz="1700">
              <a:latin typeface="Aptos"/>
              <a:cs typeface="Apto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2994" y="5654441"/>
            <a:ext cx="892746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Aptos"/>
                <a:cs typeface="Aptos"/>
              </a:rPr>
              <a:t>F9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v11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is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2928.4.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The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first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successful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landing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outcome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in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ground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was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achieved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on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05/11/2017.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Aptos"/>
                <a:cs typeface="Aptos"/>
              </a:rPr>
              <a:t>In</a:t>
            </a:r>
            <a:endParaRPr sz="1700">
              <a:latin typeface="Aptos"/>
              <a:cs typeface="Apto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2994" y="5836405"/>
            <a:ext cx="71577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Aptos"/>
                <a:cs typeface="Aptos"/>
              </a:rPr>
              <a:t>total,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there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were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55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successful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and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10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Aptos"/>
                <a:cs typeface="Aptos"/>
              </a:rPr>
              <a:t>failure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ptos"/>
                <a:cs typeface="Aptos"/>
              </a:rPr>
              <a:t>mission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outcomes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Aptos"/>
                <a:cs typeface="Aptos"/>
              </a:rPr>
              <a:t>respectively.</a:t>
            </a:r>
            <a:endParaRPr sz="17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0838" y="989457"/>
            <a:ext cx="18319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0" dirty="0"/>
              <a:t>Introduction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1602994" y="2322702"/>
            <a:ext cx="8970010" cy="439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95"/>
              </a:spcBef>
            </a:pPr>
            <a:r>
              <a:rPr sz="1900" dirty="0">
                <a:latin typeface="Aptos"/>
                <a:cs typeface="Aptos"/>
              </a:rPr>
              <a:t>The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applied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science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capstone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project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has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attempted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deal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with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equipping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Aptos"/>
                <a:cs typeface="Aptos"/>
              </a:rPr>
              <a:t>the</a:t>
            </a:r>
            <a:endParaRPr sz="1900">
              <a:latin typeface="Aptos"/>
              <a:cs typeface="Aptos"/>
            </a:endParaRPr>
          </a:p>
          <a:p>
            <a:pPr marL="12700" marR="267970">
              <a:lnSpc>
                <a:spcPct val="70000"/>
              </a:lnSpc>
              <a:spcBef>
                <a:spcPts val="340"/>
              </a:spcBef>
            </a:pP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science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student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apply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skills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as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scientist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for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private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space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launch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company.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939"/>
              </a:lnSpc>
              <a:spcBef>
                <a:spcPts val="315"/>
              </a:spcBef>
            </a:pPr>
            <a:r>
              <a:rPr sz="1900" dirty="0">
                <a:latin typeface="Aptos"/>
                <a:cs typeface="Aptos"/>
              </a:rPr>
              <a:t>As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starting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point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of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almost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all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science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projects,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project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required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collecting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595"/>
              </a:lnSpc>
            </a:pP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as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much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relevant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as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possible.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The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collection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process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has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covered</a:t>
            </a:r>
            <a:endParaRPr sz="1900">
              <a:latin typeface="Aptos"/>
              <a:cs typeface="Aptos"/>
            </a:endParaRPr>
          </a:p>
          <a:p>
            <a:pPr marL="12700" marR="328295">
              <a:lnSpc>
                <a:spcPct val="70000"/>
              </a:lnSpc>
              <a:spcBef>
                <a:spcPts val="340"/>
              </a:spcBef>
            </a:pPr>
            <a:r>
              <a:rPr sz="1900" spc="-10" dirty="0">
                <a:latin typeface="Aptos"/>
                <a:cs typeface="Aptos"/>
              </a:rPr>
              <a:t>various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sources.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The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data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scientist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was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also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expected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improve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quality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of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data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collected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by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performing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wrangling.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939"/>
              </a:lnSpc>
              <a:spcBef>
                <a:spcPts val="315"/>
              </a:spcBef>
            </a:pPr>
            <a:r>
              <a:rPr sz="1900" dirty="0">
                <a:latin typeface="Aptos"/>
                <a:cs typeface="Aptos"/>
              </a:rPr>
              <a:t>The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major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question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project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attempted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respond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was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price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of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each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launch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595"/>
              </a:lnSpc>
            </a:pPr>
            <a:r>
              <a:rPr sz="1900" spc="-10" dirty="0">
                <a:latin typeface="Aptos"/>
                <a:cs typeface="Aptos"/>
              </a:rPr>
              <a:t>accessing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through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gathering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information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about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space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x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creating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dashboards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Aptos"/>
                <a:cs typeface="Aptos"/>
              </a:rPr>
              <a:t>for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595"/>
              </a:lnSpc>
            </a:pP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team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as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well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as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training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machine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learning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model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using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public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information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939"/>
              </a:lnSpc>
            </a:pPr>
            <a:r>
              <a:rPr sz="1900" spc="-10" dirty="0">
                <a:latin typeface="Aptos"/>
                <a:cs typeface="Aptos"/>
              </a:rPr>
              <a:t>aiming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in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view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of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determining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if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SpaceX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will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reuse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the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first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stage.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939"/>
              </a:lnSpc>
              <a:spcBef>
                <a:spcPts val="320"/>
              </a:spcBef>
            </a:pPr>
            <a:r>
              <a:rPr sz="1900" dirty="0">
                <a:latin typeface="Aptos"/>
                <a:cs typeface="Aptos"/>
              </a:rPr>
              <a:t>The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project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endeavor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further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explored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processed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by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way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of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practicing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Aptos"/>
                <a:cs typeface="Aptos"/>
              </a:rPr>
              <a:t>SQL</a:t>
            </a:r>
            <a:endParaRPr sz="1900">
              <a:latin typeface="Aptos"/>
              <a:cs typeface="Aptos"/>
            </a:endParaRPr>
          </a:p>
          <a:p>
            <a:pPr marL="12700" marR="5080">
              <a:lnSpc>
                <a:spcPct val="70000"/>
              </a:lnSpc>
              <a:spcBef>
                <a:spcPts val="345"/>
              </a:spcBef>
            </a:pPr>
            <a:r>
              <a:rPr sz="1900" spc="-10" dirty="0">
                <a:latin typeface="Aptos"/>
                <a:cs typeface="Aptos"/>
              </a:rPr>
              <a:t>skills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that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query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the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data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gather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insights.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Aptos"/>
                <a:cs typeface="Aptos"/>
              </a:rPr>
              <a:t>Moreover,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project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applied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some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basic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statistical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analysis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visualization.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939"/>
              </a:lnSpc>
              <a:spcBef>
                <a:spcPts val="310"/>
              </a:spcBef>
            </a:pPr>
            <a:r>
              <a:rPr sz="1900" spc="-20" dirty="0">
                <a:latin typeface="Aptos"/>
                <a:cs typeface="Aptos"/>
              </a:rPr>
              <a:t>Before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discussing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findings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reaching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a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conclusion,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the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project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attempted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drill</a:t>
            </a:r>
            <a:endParaRPr sz="1900">
              <a:latin typeface="Aptos"/>
              <a:cs typeface="Aptos"/>
            </a:endParaRPr>
          </a:p>
          <a:p>
            <a:pPr marL="12700">
              <a:lnSpc>
                <a:spcPts val="1939"/>
              </a:lnSpc>
            </a:pPr>
            <a:r>
              <a:rPr sz="1900" spc="-10" dirty="0">
                <a:latin typeface="Aptos"/>
                <a:cs typeface="Aptos"/>
              </a:rPr>
              <a:t>down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groups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defined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by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categorical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variables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or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factors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in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the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data.</a:t>
            </a:r>
            <a:endParaRPr sz="1900">
              <a:latin typeface="Aptos"/>
              <a:cs typeface="Aptos"/>
            </a:endParaRPr>
          </a:p>
          <a:p>
            <a:pPr marL="12700" marR="749300">
              <a:lnSpc>
                <a:spcPct val="70000"/>
              </a:lnSpc>
              <a:spcBef>
                <a:spcPts val="994"/>
              </a:spcBef>
            </a:pPr>
            <a:r>
              <a:rPr sz="1900" spc="-25" dirty="0">
                <a:latin typeface="Aptos"/>
                <a:cs typeface="Aptos"/>
              </a:rPr>
              <a:t>Overall,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the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project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outcome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was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guided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Aptos"/>
                <a:cs typeface="Aptos"/>
              </a:rPr>
              <a:t>to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build,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evaluate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and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refine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predictive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models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for</a:t>
            </a:r>
            <a:r>
              <a:rPr sz="1900" spc="-9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discovering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more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Aptos"/>
                <a:cs typeface="Aptos"/>
              </a:rPr>
              <a:t>exciting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Aptos"/>
                <a:cs typeface="Aptos"/>
              </a:rPr>
              <a:t>insights.</a:t>
            </a:r>
            <a:endParaRPr sz="19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47921" y="2479294"/>
            <a:ext cx="42970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latin typeface="Aptos Display"/>
                <a:cs typeface="Aptos Display"/>
              </a:rPr>
              <a:t>EDA</a:t>
            </a:r>
            <a:r>
              <a:rPr sz="6000" spc="-335" dirty="0">
                <a:latin typeface="Times New Roman"/>
                <a:cs typeface="Times New Roman"/>
              </a:rPr>
              <a:t> </a:t>
            </a:r>
            <a:r>
              <a:rPr sz="6000" dirty="0">
                <a:latin typeface="Aptos Display"/>
                <a:cs typeface="Aptos Display"/>
              </a:rPr>
              <a:t>with</a:t>
            </a:r>
            <a:r>
              <a:rPr sz="6000" spc="-330" dirty="0">
                <a:latin typeface="Times New Roman"/>
                <a:cs typeface="Times New Roman"/>
              </a:rPr>
              <a:t> </a:t>
            </a:r>
            <a:r>
              <a:rPr sz="6000" spc="-25" dirty="0">
                <a:latin typeface="Aptos Display"/>
                <a:cs typeface="Aptos Display"/>
              </a:rPr>
              <a:t>SQL</a:t>
            </a:r>
            <a:endParaRPr sz="6000">
              <a:latin typeface="Aptos Display"/>
              <a:cs typeface="Aptos Display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3224" y="3578096"/>
            <a:ext cx="476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ptos"/>
                <a:cs typeface="Aptos"/>
              </a:rPr>
              <a:t>SQL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Notebook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for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ptos"/>
                <a:cs typeface="Aptos"/>
              </a:rPr>
              <a:t>Peers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Assignment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519" y="1488694"/>
            <a:ext cx="4375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latin typeface="Aptos Display"/>
                <a:cs typeface="Aptos Display"/>
              </a:rPr>
              <a:t>Collecting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b="1" spc="-25" dirty="0">
                <a:latin typeface="Aptos Display"/>
                <a:cs typeface="Aptos Display"/>
              </a:rPr>
              <a:t>SpaceX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Aptos Display"/>
                <a:cs typeface="Aptos Display"/>
              </a:rPr>
              <a:t>Data</a:t>
            </a:r>
            <a:endParaRPr sz="3600">
              <a:latin typeface="Aptos Display"/>
              <a:cs typeface="Aptos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5" y="1487881"/>
            <a:ext cx="5267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latin typeface="Aptos Display"/>
                <a:cs typeface="Aptos Display"/>
              </a:rPr>
              <a:t>Essential</a:t>
            </a:r>
            <a:r>
              <a:rPr sz="3600" spc="-210" dirty="0">
                <a:latin typeface="Times New Roman"/>
                <a:cs typeface="Times New Roman"/>
              </a:rPr>
              <a:t> </a:t>
            </a:r>
            <a:r>
              <a:rPr sz="3600" b="1" spc="-45" dirty="0">
                <a:latin typeface="Aptos Display"/>
                <a:cs typeface="Aptos Display"/>
              </a:rPr>
              <a:t>EDA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Aptos Display"/>
                <a:cs typeface="Aptos Display"/>
              </a:rPr>
              <a:t>Visualizations</a:t>
            </a:r>
            <a:endParaRPr sz="3600">
              <a:latin typeface="Aptos Display"/>
              <a:cs typeface="Aptos Display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5680" y="2130268"/>
            <a:ext cx="4846319" cy="45015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5370" y="3578097"/>
            <a:ext cx="246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ptos"/>
                <a:cs typeface="Aptos"/>
              </a:rPr>
              <a:t>Scrapping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Process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5" y="3959479"/>
            <a:ext cx="4126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5" dirty="0">
                <a:latin typeface="Aptos Display"/>
                <a:cs typeface="Aptos Display"/>
              </a:rPr>
              <a:t>Web</a:t>
            </a:r>
            <a:r>
              <a:rPr sz="3600" spc="-190" dirty="0">
                <a:latin typeface="Times New Roman"/>
                <a:cs typeface="Times New Roman"/>
              </a:rPr>
              <a:t> </a:t>
            </a:r>
            <a:r>
              <a:rPr sz="3600" b="1" spc="-35" dirty="0">
                <a:latin typeface="Aptos Display"/>
                <a:cs typeface="Aptos Display"/>
              </a:rPr>
              <a:t>Scraping</a:t>
            </a:r>
            <a:r>
              <a:rPr sz="3600" spc="-195" dirty="0">
                <a:latin typeface="Times New Roman"/>
                <a:cs typeface="Times New Roman"/>
              </a:rPr>
              <a:t> </a:t>
            </a:r>
            <a:r>
              <a:rPr sz="3600" b="1" spc="-30" dirty="0">
                <a:latin typeface="Aptos Display"/>
                <a:cs typeface="Aptos Display"/>
              </a:rPr>
              <a:t>for</a:t>
            </a:r>
            <a:r>
              <a:rPr sz="3600" spc="-180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Aptos Display"/>
                <a:cs typeface="Aptos Display"/>
              </a:rPr>
              <a:t>Data</a:t>
            </a:r>
            <a:endParaRPr sz="3600">
              <a:latin typeface="Aptos Display"/>
              <a:cs typeface="Aptos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8071" y="1488694"/>
            <a:ext cx="5321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latin typeface="Aptos Display"/>
                <a:cs typeface="Aptos Display"/>
              </a:rPr>
              <a:t>Data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b="1" spc="-35" dirty="0">
                <a:latin typeface="Aptos Display"/>
                <a:cs typeface="Aptos Display"/>
              </a:rPr>
              <a:t>Wrangling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Aptos Display"/>
                <a:cs typeface="Aptos Display"/>
              </a:rPr>
              <a:t>Methodology</a:t>
            </a:r>
            <a:endParaRPr sz="3600">
              <a:latin typeface="Aptos Display"/>
              <a:cs typeface="Aptos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385" y="2172434"/>
            <a:ext cx="5818505" cy="21323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400" b="1" spc="-10" dirty="0">
                <a:latin typeface="Aptos"/>
                <a:cs typeface="Aptos"/>
              </a:rPr>
              <a:t>Revealing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Aptos"/>
                <a:cs typeface="Aptos"/>
              </a:rPr>
              <a:t>Data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Aptos"/>
                <a:cs typeface="Aptos"/>
              </a:rPr>
              <a:t>Patterns</a:t>
            </a:r>
            <a:endParaRPr sz="1400">
              <a:latin typeface="Aptos"/>
              <a:cs typeface="Aptos"/>
            </a:endParaRPr>
          </a:p>
          <a:p>
            <a:pPr marL="12700" marR="5080">
              <a:lnSpc>
                <a:spcPts val="1510"/>
              </a:lnSpc>
              <a:spcBef>
                <a:spcPts val="520"/>
              </a:spcBef>
            </a:pPr>
            <a:r>
              <a:rPr sz="1400" spc="-20" dirty="0">
                <a:latin typeface="Aptos"/>
                <a:cs typeface="Aptos"/>
              </a:rPr>
              <a:t>EDA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visualizations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uncover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hidden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patterns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trends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in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datasets,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enabling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a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deeper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understanding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data.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Aptos"/>
                <a:cs typeface="Aptos"/>
              </a:rPr>
              <a:t>Spotting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Aptos"/>
                <a:cs typeface="Aptos"/>
              </a:rPr>
              <a:t>Anomalies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Aptos"/>
                <a:cs typeface="Aptos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Aptos"/>
                <a:cs typeface="Aptos"/>
              </a:rPr>
              <a:t>Outliers</a:t>
            </a:r>
            <a:endParaRPr sz="1400">
              <a:latin typeface="Aptos"/>
              <a:cs typeface="Aptos"/>
            </a:endParaRPr>
          </a:p>
          <a:p>
            <a:pPr marL="12700">
              <a:lnSpc>
                <a:spcPts val="1595"/>
              </a:lnSpc>
              <a:spcBef>
                <a:spcPts val="315"/>
              </a:spcBef>
            </a:pPr>
            <a:r>
              <a:rPr sz="1400" dirty="0">
                <a:latin typeface="Aptos"/>
                <a:cs typeface="Aptos"/>
              </a:rPr>
              <a:t>Visual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tools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help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quickly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identify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anomalies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outliers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that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may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impact</a:t>
            </a:r>
            <a:endParaRPr sz="1400">
              <a:latin typeface="Aptos"/>
              <a:cs typeface="Aptos"/>
            </a:endParaRPr>
          </a:p>
          <a:p>
            <a:pPr marL="12700">
              <a:lnSpc>
                <a:spcPts val="1595"/>
              </a:lnSpc>
            </a:pPr>
            <a:r>
              <a:rPr sz="1400" spc="-10" dirty="0">
                <a:latin typeface="Aptos"/>
                <a:cs typeface="Aptos"/>
              </a:rPr>
              <a:t>analysis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or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require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further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investigation.</a:t>
            </a:r>
            <a:endParaRPr sz="14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Aptos"/>
                <a:cs typeface="Aptos"/>
              </a:rPr>
              <a:t>Understanding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Aptos"/>
                <a:cs typeface="Aptos"/>
              </a:rPr>
              <a:t>Relationships</a:t>
            </a:r>
            <a:endParaRPr sz="1400">
              <a:latin typeface="Aptos"/>
              <a:cs typeface="Aptos"/>
            </a:endParaRPr>
          </a:p>
          <a:p>
            <a:pPr marL="12700" marR="307340">
              <a:lnSpc>
                <a:spcPts val="1510"/>
              </a:lnSpc>
              <a:spcBef>
                <a:spcPts val="530"/>
              </a:spcBef>
            </a:pPr>
            <a:r>
              <a:rPr sz="1400" spc="-20" dirty="0">
                <a:latin typeface="Aptos"/>
                <a:cs typeface="Aptos"/>
              </a:rPr>
              <a:t>EDA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graphs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reveal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relationships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between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variables,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supporting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informed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decision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making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ptos"/>
                <a:cs typeface="Aptos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hypothesis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Aptos"/>
                <a:cs typeface="Aptos"/>
              </a:rPr>
              <a:t>generation.</a:t>
            </a:r>
            <a:endParaRPr sz="1400">
              <a:latin typeface="Aptos"/>
              <a:cs typeface="Apto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5680" y="0"/>
            <a:ext cx="484631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3957" y="1655775"/>
            <a:ext cx="6790055" cy="276923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065" marR="5080" algn="ctr">
              <a:lnSpc>
                <a:spcPts val="6480"/>
              </a:lnSpc>
              <a:spcBef>
                <a:spcPts val="915"/>
              </a:spcBef>
            </a:pPr>
            <a:r>
              <a:rPr sz="6000" spc="-50" dirty="0"/>
              <a:t>EDA</a:t>
            </a:r>
            <a:r>
              <a:rPr sz="6000" spc="-345" dirty="0">
                <a:latin typeface="Times New Roman"/>
                <a:cs typeface="Times New Roman"/>
              </a:rPr>
              <a:t> </a:t>
            </a:r>
            <a:r>
              <a:rPr sz="6000" dirty="0"/>
              <a:t>with</a:t>
            </a:r>
            <a:r>
              <a:rPr sz="6000" spc="-330" dirty="0">
                <a:latin typeface="Times New Roman"/>
                <a:cs typeface="Times New Roman"/>
              </a:rPr>
              <a:t> </a:t>
            </a:r>
            <a:r>
              <a:rPr sz="6000" spc="-10" dirty="0"/>
              <a:t>visualization</a:t>
            </a:r>
            <a:r>
              <a:rPr sz="6000" spc="-10" dirty="0">
                <a:latin typeface="Times New Roman"/>
                <a:cs typeface="Times New Roman"/>
              </a:rPr>
              <a:t> </a:t>
            </a:r>
            <a:r>
              <a:rPr sz="6000" spc="-20" dirty="0"/>
              <a:t>results</a:t>
            </a:r>
            <a:r>
              <a:rPr sz="6000" spc="-335" dirty="0">
                <a:latin typeface="Times New Roman"/>
                <a:cs typeface="Times New Roman"/>
              </a:rPr>
              <a:t> </a:t>
            </a:r>
            <a:r>
              <a:rPr sz="6000" spc="-10" dirty="0"/>
              <a:t>slides</a:t>
            </a:r>
            <a:endParaRPr sz="6000">
              <a:latin typeface="Times New Roman"/>
              <a:cs typeface="Times New Roman"/>
            </a:endParaRPr>
          </a:p>
          <a:p>
            <a:pPr marL="330835" marR="330200" algn="ctr">
              <a:lnSpc>
                <a:spcPct val="124600"/>
              </a:lnSpc>
              <a:spcBef>
                <a:spcPts val="650"/>
              </a:spcBef>
            </a:pPr>
            <a:r>
              <a:rPr sz="2400" dirty="0">
                <a:latin typeface="Aptos"/>
                <a:cs typeface="Aptos"/>
              </a:rPr>
              <a:t>SpaceX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Falcon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9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First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Stage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Landing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prediction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Assignment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Exploring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and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Preparing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ptos"/>
                <a:cs typeface="Aptos"/>
              </a:rPr>
              <a:t>Data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2241" y="613691"/>
            <a:ext cx="11236325" cy="5922645"/>
            <a:chOff x="632241" y="613691"/>
            <a:chExt cx="11236325" cy="5922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4243" y="1106967"/>
              <a:ext cx="9523512" cy="244016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576690" y="3335909"/>
              <a:ext cx="3291840" cy="3200400"/>
            </a:xfrm>
            <a:custGeom>
              <a:avLst/>
              <a:gdLst/>
              <a:ahLst/>
              <a:cxnLst/>
              <a:rect l="l" t="t" r="r" b="b"/>
              <a:pathLst>
                <a:path w="3291840" h="3200400">
                  <a:moveTo>
                    <a:pt x="3291840" y="0"/>
                  </a:moveTo>
                  <a:lnTo>
                    <a:pt x="0" y="3200364"/>
                  </a:lnTo>
                  <a:lnTo>
                    <a:pt x="3291840" y="3200364"/>
                  </a:lnTo>
                  <a:lnTo>
                    <a:pt x="3291840" y="0"/>
                  </a:lnTo>
                  <a:close/>
                </a:path>
              </a:pathLst>
            </a:custGeom>
            <a:solidFill>
              <a:srgbClr val="0F9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1766" y="623216"/>
              <a:ext cx="10905490" cy="5608320"/>
            </a:xfrm>
            <a:custGeom>
              <a:avLst/>
              <a:gdLst/>
              <a:ahLst/>
              <a:cxnLst/>
              <a:rect l="l" t="t" r="r" b="b"/>
              <a:pathLst>
                <a:path w="10905490" h="5608320">
                  <a:moveTo>
                    <a:pt x="0" y="5607939"/>
                  </a:moveTo>
                  <a:lnTo>
                    <a:pt x="10905109" y="5607939"/>
                  </a:lnTo>
                  <a:lnTo>
                    <a:pt x="10905109" y="0"/>
                  </a:lnTo>
                  <a:lnTo>
                    <a:pt x="0" y="0"/>
                  </a:lnTo>
                  <a:lnTo>
                    <a:pt x="0" y="5607939"/>
                  </a:lnTo>
                  <a:close/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68297" y="3426333"/>
            <a:ext cx="8242300" cy="11264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z="3800" spc="-50" dirty="0">
                <a:latin typeface="Aptos Display"/>
                <a:cs typeface="Aptos Display"/>
              </a:rPr>
              <a:t>TASK</a:t>
            </a:r>
            <a:r>
              <a:rPr sz="3800" spc="-21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Aptos Display"/>
                <a:cs typeface="Aptos Display"/>
              </a:rPr>
              <a:t>1:</a:t>
            </a:r>
            <a:r>
              <a:rPr sz="3800" spc="-215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Aptos Display"/>
                <a:cs typeface="Aptos Display"/>
              </a:rPr>
              <a:t>Visualize</a:t>
            </a:r>
            <a:r>
              <a:rPr sz="3800" spc="-21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Aptos Display"/>
                <a:cs typeface="Aptos Display"/>
              </a:rPr>
              <a:t>the</a:t>
            </a:r>
            <a:r>
              <a:rPr sz="3800" spc="-21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Aptos Display"/>
                <a:cs typeface="Aptos Display"/>
              </a:rPr>
              <a:t>relationship</a:t>
            </a:r>
            <a:r>
              <a:rPr sz="3800" spc="-204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Aptos Display"/>
                <a:cs typeface="Aptos Display"/>
              </a:rPr>
              <a:t>between</a:t>
            </a:r>
            <a:r>
              <a:rPr sz="3800" spc="-1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Aptos Display"/>
                <a:cs typeface="Aptos Display"/>
              </a:rPr>
              <a:t>Flight</a:t>
            </a:r>
            <a:r>
              <a:rPr sz="3800" spc="-22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Aptos Display"/>
                <a:cs typeface="Aptos Display"/>
              </a:rPr>
              <a:t>Number</a:t>
            </a:r>
            <a:r>
              <a:rPr sz="3800" spc="-21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Aptos Display"/>
                <a:cs typeface="Aptos Display"/>
              </a:rPr>
              <a:t>and</a:t>
            </a:r>
            <a:r>
              <a:rPr sz="3800" spc="-204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Aptos Display"/>
                <a:cs typeface="Aptos Display"/>
              </a:rPr>
              <a:t>Launch</a:t>
            </a:r>
            <a:r>
              <a:rPr sz="3800" spc="-210" dirty="0">
                <a:latin typeface="Times New Roman"/>
                <a:cs typeface="Times New Roman"/>
              </a:rPr>
              <a:t> </a:t>
            </a:r>
            <a:r>
              <a:rPr sz="3800" spc="-10" dirty="0">
                <a:latin typeface="Aptos Display"/>
                <a:cs typeface="Aptos Display"/>
              </a:rPr>
              <a:t>Site</a:t>
            </a:r>
            <a:r>
              <a:rPr sz="38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Aptos Display"/>
                <a:cs typeface="Aptos Display"/>
              </a:rPr>
              <a:t>¶</a:t>
            </a:r>
            <a:endParaRPr sz="3800">
              <a:latin typeface="Aptos Display"/>
              <a:cs typeface="Aptos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94615"/>
            <a:ext cx="867600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75" dirty="0"/>
              <a:t>TASK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spc="-20" dirty="0"/>
              <a:t>2: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5" dirty="0"/>
              <a:t>Visualize</a:t>
            </a:r>
            <a:r>
              <a:rPr sz="4000" spc="-190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30" dirty="0"/>
              <a:t>relationship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10" dirty="0"/>
              <a:t>between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45" dirty="0"/>
              <a:t>Payload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5" dirty="0"/>
              <a:t>Mass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0" dirty="0"/>
              <a:t>and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Launch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Site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971" y="3003810"/>
            <a:ext cx="10454153" cy="19991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131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75" dirty="0"/>
              <a:t>TASK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spc="-20" dirty="0"/>
              <a:t>4: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5" dirty="0"/>
              <a:t>Visualize</a:t>
            </a:r>
            <a:r>
              <a:rPr sz="4000" spc="-190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30" dirty="0"/>
              <a:t>relationship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10" dirty="0"/>
              <a:t>between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25" dirty="0"/>
              <a:t>FlightNumber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spc="-20" dirty="0"/>
              <a:t>and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25" dirty="0"/>
              <a:t>Orbit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type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233676"/>
            <a:ext cx="12192000" cy="2543175"/>
            <a:chOff x="0" y="2233676"/>
            <a:chExt cx="12192000" cy="2543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33676"/>
              <a:ext cx="12192000" cy="2389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2384425"/>
              <a:ext cx="12039599" cy="2392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94615"/>
            <a:ext cx="867600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75" dirty="0"/>
              <a:t>TASK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spc="-20" dirty="0"/>
              <a:t>5: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5" dirty="0"/>
              <a:t>Visualize</a:t>
            </a:r>
            <a:r>
              <a:rPr sz="4000" spc="-190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30" dirty="0"/>
              <a:t>relationship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10" dirty="0"/>
              <a:t>between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45" dirty="0"/>
              <a:t>Payload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5" dirty="0"/>
              <a:t>Mass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0" dirty="0"/>
              <a:t>and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25" dirty="0"/>
              <a:t>Orbit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20" dirty="0"/>
              <a:t>type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981" y="2269873"/>
            <a:ext cx="12154535" cy="2506980"/>
            <a:chOff x="37981" y="2269873"/>
            <a:chExt cx="12154535" cy="25069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81" y="2269873"/>
              <a:ext cx="12116037" cy="23164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2384425"/>
              <a:ext cx="12039599" cy="2392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68630"/>
            <a:ext cx="103473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0" dirty="0"/>
              <a:t>TASK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6: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5" dirty="0"/>
              <a:t>Visualize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10" dirty="0"/>
              <a:t>launch</a:t>
            </a:r>
            <a:r>
              <a:rPr sz="4000" spc="-175" dirty="0">
                <a:latin typeface="Times New Roman"/>
                <a:cs typeface="Times New Roman"/>
              </a:rPr>
              <a:t> </a:t>
            </a:r>
            <a:r>
              <a:rPr sz="4000" spc="-20" dirty="0"/>
              <a:t>success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30" dirty="0"/>
              <a:t>yearly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10" dirty="0"/>
              <a:t>trend</a:t>
            </a:r>
            <a:r>
              <a:rPr sz="40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820" y="2035340"/>
            <a:ext cx="5193791" cy="3877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131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75" dirty="0"/>
              <a:t>TASK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7: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40" dirty="0"/>
              <a:t>Create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30" dirty="0"/>
              <a:t>dummy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25" dirty="0"/>
              <a:t>variables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to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10" dirty="0"/>
              <a:t>categorical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10" dirty="0"/>
              <a:t>columns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07163"/>
            <a:ext cx="6195060" cy="10477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Original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DataFrame:</a:t>
            </a:r>
            <a:endParaRPr sz="2800">
              <a:latin typeface="Aptos"/>
              <a:cs typeface="Aptos"/>
            </a:endParaRPr>
          </a:p>
          <a:p>
            <a:pPr marL="387350" indent="-37528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387350" algn="l"/>
                <a:tab pos="387985" algn="l"/>
                <a:tab pos="1629410" algn="l"/>
              </a:tabLst>
            </a:pPr>
            <a:r>
              <a:rPr sz="2800" spc="-10" dirty="0">
                <a:latin typeface="Aptos"/>
                <a:cs typeface="Aptos"/>
              </a:rPr>
              <a:t>Orbits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Aptos"/>
                <a:cs typeface="Aptos"/>
              </a:rPr>
              <a:t>LaunchSite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LandingPad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Serial</a:t>
            </a:r>
            <a:endParaRPr sz="2800">
              <a:latin typeface="Aptos"/>
              <a:cs typeface="Apto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7889" y="2849328"/>
          <a:ext cx="6205855" cy="2476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3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6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3185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800" dirty="0">
                          <a:latin typeface="Aptos"/>
                          <a:cs typeface="Aptos"/>
                        </a:rPr>
                        <a:t>0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3185"/>
                        </a:lnSpc>
                        <a:tabLst>
                          <a:tab pos="924560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LEO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28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40" dirty="0">
                          <a:latin typeface="Aptos"/>
                          <a:cs typeface="Aptos"/>
                        </a:rPr>
                        <a:t>SLC</a:t>
                      </a:r>
                      <a:r>
                        <a:rPr sz="28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Aptos"/>
                          <a:cs typeface="Aptos"/>
                        </a:rPr>
                        <a:t>40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3185"/>
                        </a:lnSpc>
                        <a:tabLst>
                          <a:tab pos="836294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NaN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Aptos"/>
                          <a:cs typeface="Aptos"/>
                        </a:rPr>
                        <a:t>B0003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800" dirty="0">
                          <a:latin typeface="Aptos"/>
                          <a:cs typeface="Aptos"/>
                        </a:rPr>
                        <a:t>1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925194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LEO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28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45" dirty="0">
                          <a:latin typeface="Aptos"/>
                          <a:cs typeface="Aptos"/>
                        </a:rPr>
                        <a:t>SLC</a:t>
                      </a:r>
                      <a:r>
                        <a:rPr sz="28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Aptos"/>
                          <a:cs typeface="Aptos"/>
                        </a:rPr>
                        <a:t>40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836294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NaN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Aptos"/>
                          <a:cs typeface="Aptos"/>
                        </a:rPr>
                        <a:t>B0005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800" dirty="0">
                          <a:latin typeface="Aptos"/>
                          <a:cs typeface="Aptos"/>
                        </a:rPr>
                        <a:t>2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786130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ISS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28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45" dirty="0">
                          <a:latin typeface="Aptos"/>
                          <a:cs typeface="Aptos"/>
                        </a:rPr>
                        <a:t>SLC</a:t>
                      </a:r>
                      <a:r>
                        <a:rPr sz="28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Aptos"/>
                          <a:cs typeface="Aptos"/>
                        </a:rPr>
                        <a:t>40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1123315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NaN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Aptos"/>
                          <a:cs typeface="Aptos"/>
                        </a:rPr>
                        <a:t>B0007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5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800" dirty="0">
                          <a:latin typeface="Aptos"/>
                          <a:cs typeface="Aptos"/>
                        </a:rPr>
                        <a:t>3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902335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PO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Aptos"/>
                          <a:cs typeface="Aptos"/>
                        </a:rPr>
                        <a:t>VAFB</a:t>
                      </a:r>
                      <a:r>
                        <a:rPr sz="28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40" dirty="0">
                          <a:latin typeface="Aptos"/>
                          <a:cs typeface="Aptos"/>
                        </a:rPr>
                        <a:t>SLC</a:t>
                      </a:r>
                      <a:r>
                        <a:rPr sz="2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Aptos"/>
                          <a:cs typeface="Aptos"/>
                        </a:rPr>
                        <a:t>4E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966469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NaN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Aptos"/>
                          <a:cs typeface="Aptos"/>
                        </a:rPr>
                        <a:t>B1003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800" dirty="0">
                          <a:latin typeface="Aptos"/>
                          <a:cs typeface="Aptos"/>
                        </a:rPr>
                        <a:t>4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955040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GTO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28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40" dirty="0">
                          <a:latin typeface="Aptos"/>
                          <a:cs typeface="Aptos"/>
                        </a:rPr>
                        <a:t>SLC</a:t>
                      </a:r>
                      <a:r>
                        <a:rPr sz="28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Aptos"/>
                          <a:cs typeface="Aptos"/>
                        </a:rPr>
                        <a:t>40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836294" algn="l"/>
                        </a:tabLst>
                      </a:pPr>
                      <a:r>
                        <a:rPr sz="2800" spc="-25" dirty="0">
                          <a:latin typeface="Aptos"/>
                          <a:cs typeface="Aptos"/>
                        </a:rPr>
                        <a:t>NaN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Aptos"/>
                          <a:cs typeface="Aptos"/>
                        </a:rPr>
                        <a:t>B1004</a:t>
                      </a:r>
                      <a:endParaRPr sz="2800">
                        <a:latin typeface="Aptos"/>
                        <a:cs typeface="Aptos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98818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TASK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8: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10" dirty="0"/>
              <a:t>Cast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all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numeric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columns</a:t>
            </a:r>
            <a:r>
              <a:rPr spc="-275" dirty="0">
                <a:latin typeface="Times New Roman"/>
                <a:cs typeface="Times New Roman"/>
              </a:rPr>
              <a:t> </a:t>
            </a:r>
            <a:r>
              <a:rPr spc="-15" dirty="0"/>
              <a:t>to</a:t>
            </a:r>
            <a:r>
              <a:rPr spc="-275" dirty="0">
                <a:latin typeface="Times New Roman"/>
                <a:cs typeface="Times New Roman"/>
              </a:rPr>
              <a:t> </a:t>
            </a:r>
            <a:r>
              <a:rPr spc="-10" dirty="0"/>
              <a:t>float64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36530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Aptos"/>
                <a:cs typeface="Aptos"/>
              </a:rPr>
              <a:t>#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Cast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entire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Aptos"/>
                <a:cs typeface="Aptos"/>
              </a:rPr>
              <a:t>DataFrame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to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flaot64df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=</a:t>
            </a:r>
            <a:r>
              <a:rPr sz="2800" spc="7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pd.read_csvdf_encoded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pd.get_dummies(df,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columns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:=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Aptos"/>
                <a:cs typeface="Aptos"/>
              </a:rPr>
              <a:t>['FlightNumber',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Aptos"/>
                <a:cs typeface="Aptos"/>
              </a:rPr>
              <a:t>'PayloadMass',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Aptos"/>
                <a:cs typeface="Aptos"/>
              </a:rPr>
              <a:t>'Flights',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Aptos"/>
                <a:cs typeface="Aptos"/>
              </a:rPr>
              <a:t>'Block',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'ReusedCount'],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df</a:t>
            </a:r>
            <a:endParaRPr sz="2800">
              <a:latin typeface="Aptos"/>
              <a:cs typeface="Aptos"/>
            </a:endParaRPr>
          </a:p>
          <a:p>
            <a:pPr marL="240665">
              <a:lnSpc>
                <a:spcPts val="3025"/>
              </a:lnSpc>
            </a:pPr>
            <a:r>
              <a:rPr sz="2800" dirty="0">
                <a:latin typeface="Aptos"/>
                <a:cs typeface="Aptos"/>
              </a:rPr>
              <a:t>=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int)df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df.astype(np.float64)print(df.head())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7134859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#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Get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head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spc="-20" dirty="0"/>
              <a:t>dataframe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/>
              <a:t>data.head()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9889" y="1873757"/>
            <a:ext cx="12827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static_fire_date_utc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943" y="1873757"/>
            <a:ext cx="1333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static_fire_date_unix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7837" y="1873757"/>
            <a:ext cx="4318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Calibri"/>
                <a:cs typeface="Calibri"/>
              </a:rPr>
              <a:t>tbd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3933" y="1873757"/>
            <a:ext cx="419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5" dirty="0">
                <a:latin typeface="Calibri"/>
                <a:cs typeface="Calibri"/>
              </a:rPr>
              <a:t>net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7298" y="1873757"/>
            <a:ext cx="6540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window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41398" y="1873757"/>
            <a:ext cx="571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rocket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4448" y="1873757"/>
            <a:ext cx="609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success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2451" y="1873757"/>
            <a:ext cx="596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details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7692" y="1873757"/>
            <a:ext cx="501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Calibri"/>
                <a:cs typeface="Calibri"/>
              </a:rPr>
              <a:t>crew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3917" y="1873757"/>
            <a:ext cx="501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ships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3505" y="1873757"/>
            <a:ext cx="673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capsules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6683" y="1873757"/>
            <a:ext cx="698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payloads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57065" y="1873757"/>
            <a:ext cx="7620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launchpad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9447" y="1873757"/>
            <a:ext cx="895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auto_update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21453" y="1873757"/>
            <a:ext cx="641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failures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62880" y="1873757"/>
            <a:ext cx="9842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flight_number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83302" y="1873757"/>
            <a:ext cx="546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20" dirty="0">
                <a:latin typeface="Calibri"/>
                <a:cs typeface="Calibri"/>
              </a:rPr>
              <a:t>name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4159" y="1873757"/>
            <a:ext cx="704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date_utc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14542" y="1873757"/>
            <a:ext cx="755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date_unix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89116" y="1873757"/>
            <a:ext cx="7747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date_local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44259" y="1873757"/>
            <a:ext cx="990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date_precision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44741" y="1873757"/>
            <a:ext cx="742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upcoming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43827" y="1873757"/>
            <a:ext cx="52069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cores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37069" y="1873757"/>
            <a:ext cx="355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b="1" spc="-35" dirty="0">
                <a:latin typeface="Calibri"/>
                <a:cs typeface="Calibri"/>
              </a:rPr>
              <a:t>id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47635" y="1873757"/>
            <a:ext cx="1009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fairings.reused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64679" y="1873757"/>
            <a:ext cx="1593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fairings.recovery_attempt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83448" y="1873757"/>
            <a:ext cx="1174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fairings.recovered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85581" y="1873757"/>
            <a:ext cx="9144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fairings.ships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43645" y="1873757"/>
            <a:ext cx="1092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links.patch.small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21394" y="1873757"/>
            <a:ext cx="1079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links.patch.large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71966" y="1873757"/>
            <a:ext cx="1339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links.reddit.campaign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64828" y="1873757"/>
            <a:ext cx="1174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links.reddit.launch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40926" y="1873757"/>
            <a:ext cx="116839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links.reddit.media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05213" y="1873757"/>
            <a:ext cx="12890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links.reddit.recovery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002773" y="1873757"/>
            <a:ext cx="1079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links.flickr.small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268204" y="1873757"/>
            <a:ext cx="11874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links.flickr.original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572115" y="1873757"/>
            <a:ext cx="9080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links.presskit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846689" y="1873757"/>
            <a:ext cx="920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links.webcast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107928" y="1873757"/>
            <a:ext cx="1085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links.youtube_id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408409" y="1873757"/>
            <a:ext cx="838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links.article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667870" y="1873757"/>
            <a:ext cx="10033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links.wikipedia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980926" y="1873757"/>
            <a:ext cx="641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b="1" spc="-10" dirty="0">
                <a:latin typeface="Calibri"/>
                <a:cs typeface="Calibri"/>
              </a:rPr>
              <a:t>fairings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9445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b="1" spc="-5" dirty="0">
                <a:latin typeface="Calibri"/>
                <a:cs typeface="Calibri"/>
              </a:rPr>
              <a:t>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0933" y="2413507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2006-03-17T00:00:00.000Z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8043" y="2413507"/>
            <a:ext cx="958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1.142554e+09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18694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94789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81682" y="2413507"/>
            <a:ext cx="412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0.0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930145" y="2413507"/>
            <a:ext cx="16954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5e9d0d95eda69955f709d1eb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23592" y="2413507"/>
            <a:ext cx="3276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3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Engine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failure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at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33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seconds</a:t>
            </a:r>
            <a:r>
              <a:rPr sz="100" spc="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and</a:t>
            </a:r>
            <a:r>
              <a:rPr sz="10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loss</a:t>
            </a:r>
            <a:r>
              <a:rPr sz="100" spc="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of</a:t>
            </a:r>
            <a:r>
              <a:rPr sz="100" spc="-1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vehicle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95980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72205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48558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580003" y="2413507"/>
            <a:ext cx="1771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[5eb0e4b5b6c3bb0006eeb1e1]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66769" y="2413507"/>
            <a:ext cx="1657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5e9e4502f5090995de566f86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35196" y="2413507"/>
            <a:ext cx="3752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True</a:t>
            </a:r>
            <a:r>
              <a:rPr sz="100" spc="470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[{'time':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33,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'altitude':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None,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'reason':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'merlin</a:t>
            </a:r>
            <a:endParaRPr sz="150" baseline="27777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78782" y="2421127"/>
            <a:ext cx="107314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engine</a:t>
            </a:r>
            <a:r>
              <a:rPr sz="100" spc="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failure'}]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29936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5" dirty="0">
                <a:latin typeface="Calibri"/>
                <a:cs typeface="Calibri"/>
              </a:rPr>
              <a:t>1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063490" y="2413507"/>
            <a:ext cx="736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FalconSat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257291" y="2413507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2006-03-24T22:30:00.000Z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603875" y="2413507"/>
            <a:ext cx="863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1143239400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03772" y="2413507"/>
            <a:ext cx="1631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2006-03-25T10:30:00+12:00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194552" y="2413507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hour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404102" y="2382418"/>
            <a:ext cx="454659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67945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[{'core':</a:t>
            </a:r>
            <a:r>
              <a:rPr sz="100" spc="5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'5e9e289df35918033d3b2623',</a:t>
            </a:r>
            <a:r>
              <a:rPr sz="100" spc="17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'flight':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35" dirty="0">
                <a:latin typeface="Calibri"/>
                <a:cs typeface="Calibri"/>
              </a:rPr>
              <a:t>1,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21920" marR="67945" indent="-4635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260" dirty="0">
                <a:latin typeface="Times New Roman"/>
                <a:cs typeface="Times New Roman"/>
              </a:rPr>
              <a:t>  </a:t>
            </a:r>
            <a:r>
              <a:rPr sz="150" spc="-15" baseline="27777" dirty="0">
                <a:latin typeface="Calibri"/>
                <a:cs typeface="Calibri"/>
              </a:rPr>
              <a:t>'gridfins':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'legs':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'reused':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'landing_attempt':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False,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'landing_success':</a:t>
            </a:r>
            <a:r>
              <a:rPr sz="100" spc="1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endParaRPr sz="100">
              <a:latin typeface="Calibri"/>
              <a:cs typeface="Calibri"/>
            </a:endParaRPr>
          </a:p>
          <a:p>
            <a:pPr marR="6731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'landing_type':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r>
              <a:rPr sz="100" spc="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'landpad':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907530" y="2413507"/>
            <a:ext cx="1644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5eb87cd9ffd86e000604b32a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296404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72882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48981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119618" y="2413507"/>
            <a:ext cx="6356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[]</a:t>
            </a:r>
            <a:r>
              <a:rPr sz="100" spc="2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https://images2.imgbox.com/3c/0e/T8iJcSN3_o.</a:t>
            </a:r>
            <a:r>
              <a:rPr sz="10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png</a:t>
            </a:r>
            <a:r>
              <a:rPr sz="100" spc="28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https://images2.imgbox.com/40/e3/Gyp</a:t>
            </a:r>
            <a:r>
              <a:rPr sz="150" spc="-15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SkayF_o.pn</a:t>
            </a:r>
            <a:endParaRPr sz="150" baseline="27777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97593" y="242112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5" dirty="0">
                <a:latin typeface="Calibri"/>
                <a:cs typeface="Calibri"/>
              </a:rPr>
              <a:t>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954261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230359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506457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782936" y="2413507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078973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355326" y="2413507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611739" y="2413507"/>
            <a:ext cx="3276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None</a:t>
            </a:r>
            <a:r>
              <a:rPr sz="100" spc="3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</a:t>
            </a:r>
            <a:r>
              <a:rPr sz="100" spc="-10" dirty="0">
                <a:latin typeface="Calibri"/>
                <a:cs typeface="Calibri"/>
                <a:hlinkClick r:id="rId2"/>
              </a:rPr>
              <a:t>www.youtube.com/watch?v=0a</a:t>
            </a:r>
            <a:r>
              <a:rPr sz="100" spc="-5" dirty="0">
                <a:latin typeface="Times New Roman"/>
                <a:cs typeface="Times New Roman"/>
                <a:hlinkClick r:id="rId2"/>
              </a:rPr>
              <a:t> </a:t>
            </a:r>
            <a:r>
              <a:rPr sz="100" spc="-10" dirty="0">
                <a:latin typeface="Calibri"/>
                <a:cs typeface="Calibri"/>
                <a:hlinkClick r:id="rId2"/>
              </a:rPr>
              <a:t>_00nJ_</a:t>
            </a:r>
            <a:r>
              <a:rPr sz="100" dirty="0">
                <a:latin typeface="Times New Roman"/>
                <a:cs typeface="Times New Roman"/>
                <a:hlinkClick r:id="rId2"/>
              </a:rPr>
              <a:t> </a:t>
            </a:r>
            <a:r>
              <a:rPr sz="100" spc="-25" dirty="0">
                <a:latin typeface="Calibri"/>
                <a:cs typeface="Calibri"/>
                <a:hlinkClick r:id="rId2"/>
              </a:rPr>
              <a:t>Y88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1310873" y="2421127"/>
            <a:ext cx="1809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falcon-1-rocket-lost-launch.html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099292" y="2413507"/>
            <a:ext cx="6934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0a_00nJ_Y88</a:t>
            </a:r>
            <a:r>
              <a:rPr sz="100" spc="30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https://</a:t>
            </a:r>
            <a:r>
              <a:rPr sz="150" spc="-15" baseline="27777" dirty="0">
                <a:latin typeface="Calibri"/>
                <a:cs typeface="Calibri"/>
                <a:hlinkClick r:id="rId3"/>
              </a:rPr>
              <a:t>www.space.com/2196-spacex-ina</a:t>
            </a:r>
            <a:r>
              <a:rPr sz="150" spc="-15" baseline="27777" dirty="0">
                <a:latin typeface="Times New Roman"/>
                <a:cs typeface="Times New Roman"/>
                <a:hlinkClick r:id="rId3"/>
              </a:rPr>
              <a:t> </a:t>
            </a:r>
            <a:r>
              <a:rPr sz="150" baseline="27777" dirty="0">
                <a:latin typeface="Calibri"/>
                <a:cs typeface="Calibri"/>
                <a:hlinkClick r:id="rId3"/>
              </a:rPr>
              <a:t>ugural-</a:t>
            </a:r>
            <a:r>
              <a:rPr sz="150" spc="465" baseline="27777" dirty="0">
                <a:latin typeface="Times New Roman"/>
                <a:cs typeface="Times New Roman"/>
              </a:rPr>
              <a:t>  </a:t>
            </a:r>
            <a:r>
              <a:rPr sz="100" spc="-10" dirty="0">
                <a:latin typeface="Calibri"/>
                <a:cs typeface="Calibri"/>
              </a:rPr>
              <a:t>https://en.wikipedia.org/wiki/DemoSat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997690" y="2413507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09445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b="1" spc="-5" dirty="0">
                <a:latin typeface="Calibri"/>
                <a:cs typeface="Calibri"/>
              </a:rPr>
              <a:t>1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66089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46810" y="3356229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218694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494789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781682" y="3356229"/>
            <a:ext cx="412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0.0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930145" y="3356229"/>
            <a:ext cx="16954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5e9d0d95eda69955f709d1eb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260092" y="3325138"/>
            <a:ext cx="454659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67945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Successful</a:t>
            </a:r>
            <a:r>
              <a:rPr sz="100" spc="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first</a:t>
            </a:r>
            <a:r>
              <a:rPr sz="100" spc="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stage</a:t>
            </a:r>
            <a:r>
              <a:rPr sz="100" spc="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burn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and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transition</a:t>
            </a:r>
            <a:r>
              <a:rPr sz="100" spc="6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to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second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30175" marR="67945" indent="-5397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7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stage,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maximum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altitude</a:t>
            </a:r>
            <a:r>
              <a:rPr sz="150" spc="52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289</a:t>
            </a:r>
            <a:r>
              <a:rPr sz="150" spc="52" baseline="27777" dirty="0">
                <a:latin typeface="Times New Roman"/>
                <a:cs typeface="Times New Roman"/>
              </a:rPr>
              <a:t> </a:t>
            </a:r>
            <a:r>
              <a:rPr sz="150" baseline="27777" dirty="0">
                <a:latin typeface="Calibri"/>
                <a:cs typeface="Calibri"/>
              </a:rPr>
              <a:t>km,</a:t>
            </a:r>
            <a:r>
              <a:rPr sz="150" spc="52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Premature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engine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shutdown</a:t>
            </a:r>
            <a:r>
              <a:rPr sz="100" spc="1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at</a:t>
            </a:r>
            <a:r>
              <a:rPr sz="100" spc="3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T+7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min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30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s,</a:t>
            </a:r>
            <a:r>
              <a:rPr sz="100" spc="2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Failed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to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reach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orbit,</a:t>
            </a:r>
            <a:endParaRPr sz="100">
              <a:latin typeface="Calibri"/>
              <a:cs typeface="Calibri"/>
            </a:endParaRPr>
          </a:p>
          <a:p>
            <a:pPr marR="67945" algn="r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Failed</a:t>
            </a:r>
            <a:r>
              <a:rPr sz="100" spc="2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to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recover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first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stage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895980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172205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448558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580003" y="3356229"/>
            <a:ext cx="1771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[5eb0e4b6b6c3bb0006eeb1e2]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866769" y="3356229"/>
            <a:ext cx="1657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5e9e4502f5090995de566f86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235196" y="3356229"/>
            <a:ext cx="3759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True</a:t>
            </a:r>
            <a:r>
              <a:rPr sz="100" spc="35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[{'time':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301,</a:t>
            </a:r>
            <a:r>
              <a:rPr sz="150" spc="52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'altitude':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289,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'reason':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'harmonic</a:t>
            </a:r>
            <a:endParaRPr sz="150" baseline="27777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292853" y="3363848"/>
            <a:ext cx="2927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oscillation</a:t>
            </a:r>
            <a:r>
              <a:rPr sz="100" spc="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leading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to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premature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engine</a:t>
            </a:r>
            <a:r>
              <a:rPr sz="100" spc="5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shutdown'}]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829936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5" dirty="0">
                <a:latin typeface="Calibri"/>
                <a:cs typeface="Calibri"/>
              </a:rPr>
              <a:t>2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066538" y="3356229"/>
            <a:ext cx="711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DemoSat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257291" y="3356229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2007-03-21T01:10:00.000Z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603875" y="3356229"/>
            <a:ext cx="863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1174439400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803772" y="3356229"/>
            <a:ext cx="1631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2007-03-21T13:10:00+12:00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194552" y="3356229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hour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404102" y="3325138"/>
            <a:ext cx="454659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67945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[{'core':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'5e9e289ef35918416a3b2624',</a:t>
            </a:r>
            <a:r>
              <a:rPr sz="100" spc="1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'flight':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35" dirty="0">
                <a:latin typeface="Calibri"/>
                <a:cs typeface="Calibri"/>
              </a:rPr>
              <a:t>1,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21920" marR="67945" indent="-4635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260" dirty="0">
                <a:latin typeface="Times New Roman"/>
                <a:cs typeface="Times New Roman"/>
              </a:rPr>
              <a:t>  </a:t>
            </a:r>
            <a:r>
              <a:rPr sz="150" spc="-15" baseline="27777" dirty="0">
                <a:latin typeface="Calibri"/>
                <a:cs typeface="Calibri"/>
              </a:rPr>
              <a:t>'gridfins':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'legs':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'reused':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'landing_attempt':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False,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'landing_success':</a:t>
            </a:r>
            <a:r>
              <a:rPr sz="100" spc="1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endParaRPr sz="100">
              <a:latin typeface="Calibri"/>
              <a:cs typeface="Calibri"/>
            </a:endParaRPr>
          </a:p>
          <a:p>
            <a:pPr marR="6731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'landing_type':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r>
              <a:rPr sz="100" spc="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'landpad':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907530" y="3356229"/>
            <a:ext cx="1644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5eb87cdaffd86e000604b32b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296404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572882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848981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106918" y="3356229"/>
            <a:ext cx="661035" cy="48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50800">
              <a:lnSpc>
                <a:spcPts val="90"/>
              </a:lnSpc>
            </a:pPr>
            <a:r>
              <a:rPr sz="100" dirty="0">
                <a:latin typeface="Calibri"/>
                <a:cs typeface="Calibri"/>
              </a:rPr>
              <a:t>[]</a:t>
            </a:r>
            <a:r>
              <a:rPr sz="100" spc="37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https://images2.imgbox.com/4f/e3/I0lku</a:t>
            </a:r>
            <a:r>
              <a:rPr sz="100" spc="-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J2e_o.p</a:t>
            </a:r>
            <a:r>
              <a:rPr sz="100" spc="-1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ng</a:t>
            </a:r>
            <a:r>
              <a:rPr sz="100" spc="254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https://images2.imgbox.com/be/e7/iNqs</a:t>
            </a:r>
            <a:r>
              <a:rPr sz="15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qVYM_o.pn</a:t>
            </a:r>
            <a:endParaRPr sz="150" baseline="27777">
              <a:latin typeface="Calibri"/>
              <a:cs typeface="Calibri"/>
            </a:endParaRPr>
          </a:p>
          <a:p>
            <a:pPr marR="43180" algn="r">
              <a:lnSpc>
                <a:spcPts val="90"/>
              </a:lnSpc>
            </a:pPr>
            <a:r>
              <a:rPr sz="100" spc="-5" dirty="0">
                <a:latin typeface="Calibri"/>
                <a:cs typeface="Calibri"/>
              </a:rPr>
              <a:t>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954261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9230359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9506457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9782936" y="3356229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0078973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0355326" y="3356229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0611739" y="3356229"/>
            <a:ext cx="3282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None</a:t>
            </a:r>
            <a:r>
              <a:rPr sz="100" spc="33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</a:t>
            </a:r>
            <a:r>
              <a:rPr sz="100" spc="-10" dirty="0">
                <a:latin typeface="Calibri"/>
                <a:cs typeface="Calibri"/>
                <a:hlinkClick r:id="rId4"/>
              </a:rPr>
              <a:t>www.youtube.com/watch?v=Lk</a:t>
            </a:r>
            <a:r>
              <a:rPr sz="100" spc="5" dirty="0">
                <a:latin typeface="Times New Roman"/>
                <a:cs typeface="Times New Roman"/>
                <a:hlinkClick r:id="rId4"/>
              </a:rPr>
              <a:t> </a:t>
            </a:r>
            <a:r>
              <a:rPr sz="100" spc="-10" dirty="0">
                <a:latin typeface="Calibri"/>
                <a:cs typeface="Calibri"/>
                <a:hlinkClick r:id="rId4"/>
              </a:rPr>
              <a:t>4zQ2wP-</a:t>
            </a:r>
            <a:r>
              <a:rPr sz="100" spc="-25" dirty="0">
                <a:latin typeface="Calibri"/>
                <a:cs typeface="Calibri"/>
                <a:hlinkClick r:id="rId4"/>
              </a:rPr>
              <a:t>Nc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1327638" y="3363848"/>
            <a:ext cx="16383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rocket-fails-reach-orbit.html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1099292" y="3356229"/>
            <a:ext cx="6934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Lk4zQ2wP-</a:t>
            </a:r>
            <a:r>
              <a:rPr sz="100" dirty="0">
                <a:latin typeface="Calibri"/>
                <a:cs typeface="Calibri"/>
              </a:rPr>
              <a:t>Nc</a:t>
            </a:r>
            <a:r>
              <a:rPr sz="100" spc="40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https://</a:t>
            </a:r>
            <a:r>
              <a:rPr sz="150" spc="-15" baseline="27777" dirty="0">
                <a:latin typeface="Calibri"/>
                <a:cs typeface="Calibri"/>
                <a:hlinkClick r:id="rId5"/>
              </a:rPr>
              <a:t>www.space.com/3590-spacex-fal</a:t>
            </a:r>
            <a:r>
              <a:rPr sz="150" spc="-15" baseline="27777" dirty="0">
                <a:latin typeface="Times New Roman"/>
                <a:cs typeface="Times New Roman"/>
                <a:hlinkClick r:id="rId5"/>
              </a:rPr>
              <a:t> </a:t>
            </a:r>
            <a:r>
              <a:rPr sz="150" spc="-15" baseline="27777" dirty="0">
                <a:latin typeface="Calibri"/>
                <a:cs typeface="Calibri"/>
                <a:hlinkClick r:id="rId5"/>
              </a:rPr>
              <a:t>con-</a:t>
            </a:r>
            <a:r>
              <a:rPr sz="150" baseline="27777" dirty="0">
                <a:latin typeface="Calibri"/>
                <a:cs typeface="Calibri"/>
                <a:hlinkClick r:id="rId5"/>
              </a:rPr>
              <a:t>1-</a:t>
            </a:r>
            <a:r>
              <a:rPr sz="150" spc="502" baseline="27777" dirty="0">
                <a:latin typeface="Times New Roman"/>
                <a:cs typeface="Times New Roman"/>
              </a:rPr>
              <a:t>  </a:t>
            </a:r>
            <a:r>
              <a:rPr sz="100" spc="-10" dirty="0">
                <a:latin typeface="Calibri"/>
                <a:cs typeface="Calibri"/>
              </a:rPr>
              <a:t>https://en.wikipedia.org/wiki/DemoSat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997690" y="3356229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09445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b="1" spc="-5" dirty="0">
                <a:latin typeface="Calibri"/>
                <a:cs typeface="Calibri"/>
              </a:rPr>
              <a:t>2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66089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946810" y="4298950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218694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494789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781682" y="4298950"/>
            <a:ext cx="412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0.0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930145" y="4298950"/>
            <a:ext cx="16954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5e9d0d95eda69955f709d1eb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298192" y="4298950"/>
            <a:ext cx="3790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330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Residual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stage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1</a:t>
            </a:r>
            <a:r>
              <a:rPr sz="150" spc="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thrust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baseline="27777" dirty="0">
                <a:latin typeface="Calibri"/>
                <a:cs typeface="Calibri"/>
              </a:rPr>
              <a:t>led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to</a:t>
            </a:r>
            <a:r>
              <a:rPr sz="15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collision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between</a:t>
            </a:r>
            <a:endParaRPr sz="150" baseline="27777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525396" y="4306570"/>
            <a:ext cx="126364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stage</a:t>
            </a:r>
            <a:r>
              <a:rPr sz="100" spc="4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1</a:t>
            </a:r>
            <a:r>
              <a:rPr sz="100" spc="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and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stage</a:t>
            </a:r>
            <a:r>
              <a:rPr sz="100" spc="10" dirty="0">
                <a:latin typeface="Times New Roman"/>
                <a:cs typeface="Times New Roman"/>
              </a:rPr>
              <a:t> </a:t>
            </a:r>
            <a:r>
              <a:rPr sz="100" spc="-50" dirty="0">
                <a:latin typeface="Calibri"/>
                <a:cs typeface="Calibri"/>
              </a:rPr>
              <a:t>2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895980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172205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448558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580003" y="4291329"/>
            <a:ext cx="177165" cy="55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5240" marR="5080" indent="-3175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[5eb0e4b6b6c3bb0006eeb1e3,</a:t>
            </a:r>
            <a:r>
              <a:rPr sz="100" spc="50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5eb0e4b6b6c3bb0006eeb1e4]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866769" y="4298950"/>
            <a:ext cx="1657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5e9e4502f5090995de566f86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4260596" y="4283709"/>
            <a:ext cx="325120" cy="7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 marR="5080" indent="3048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[{'time':</a:t>
            </a:r>
            <a:r>
              <a:rPr sz="100" spc="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140,</a:t>
            </a:r>
            <a:r>
              <a:rPr sz="100" spc="6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'altitude':</a:t>
            </a:r>
            <a:r>
              <a:rPr sz="100" spc="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35,</a:t>
            </a:r>
            <a:r>
              <a:rPr sz="100" spc="6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'reason':</a:t>
            </a:r>
            <a:r>
              <a:rPr sz="100" spc="5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'residual</a:t>
            </a:r>
            <a:r>
              <a:rPr sz="100" spc="6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stage-</a:t>
            </a:r>
            <a:r>
              <a:rPr sz="100" spc="50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True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1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thrust</a:t>
            </a:r>
            <a:r>
              <a:rPr sz="100" spc="3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led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to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collision</a:t>
            </a:r>
            <a:r>
              <a:rPr sz="100" spc="2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between</a:t>
            </a:r>
            <a:r>
              <a:rPr sz="100" spc="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stage</a:t>
            </a:r>
            <a:r>
              <a:rPr sz="100" spc="3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1</a:t>
            </a:r>
            <a:r>
              <a:rPr sz="100" spc="3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and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stage</a:t>
            </a:r>
            <a:endParaRPr sz="1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2'}]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4829936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5" dirty="0">
                <a:latin typeface="Calibri"/>
                <a:cs typeface="Calibri"/>
              </a:rPr>
              <a:t>3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5058917" y="4298950"/>
            <a:ext cx="7874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Trailblazer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5257291" y="4298950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2008-08-03T03:34:00.000Z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5603875" y="4298950"/>
            <a:ext cx="863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1217734440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5803772" y="4298950"/>
            <a:ext cx="1631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2008-08-03T15:34:00+12:00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6194552" y="4298950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hour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404102" y="4267860"/>
            <a:ext cx="454659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67945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[{'core':</a:t>
            </a:r>
            <a:r>
              <a:rPr sz="100" spc="5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'5e9e289ef3591814873b2625',</a:t>
            </a:r>
            <a:r>
              <a:rPr sz="100" spc="1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'flight':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35" dirty="0">
                <a:latin typeface="Calibri"/>
                <a:cs typeface="Calibri"/>
              </a:rPr>
              <a:t>1,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21920" marR="67945" indent="-4635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260" dirty="0">
                <a:latin typeface="Times New Roman"/>
                <a:cs typeface="Times New Roman"/>
              </a:rPr>
              <a:t>  </a:t>
            </a:r>
            <a:r>
              <a:rPr sz="150" spc="-15" baseline="27777" dirty="0">
                <a:latin typeface="Calibri"/>
                <a:cs typeface="Calibri"/>
              </a:rPr>
              <a:t>'gridfins':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'legs':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'reused':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'landing_attempt':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False,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'landing_success':</a:t>
            </a:r>
            <a:r>
              <a:rPr sz="100" spc="1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endParaRPr sz="100">
              <a:latin typeface="Calibri"/>
              <a:cs typeface="Calibri"/>
            </a:endParaRPr>
          </a:p>
          <a:p>
            <a:pPr marR="6731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'landing_type':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r>
              <a:rPr sz="100" spc="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'landpad':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6909054" y="4298950"/>
            <a:ext cx="1631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5eb87cdbffd86e000604b32c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296404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7572882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848981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145018" y="4298950"/>
            <a:ext cx="58420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[]</a:t>
            </a:r>
            <a:r>
              <a:rPr sz="100" spc="229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https://images2.imgbox.com/3d/86/cnu0</a:t>
            </a:r>
            <a:r>
              <a:rPr sz="10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pan8_o</a:t>
            </a:r>
            <a:r>
              <a:rPr sz="100" spc="-1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.png</a:t>
            </a:r>
            <a:r>
              <a:rPr sz="100" spc="2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https://images2.imgbox.com/4b/bd/d8U</a:t>
            </a:r>
            <a:r>
              <a:rPr sz="10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xLh4q_o</a:t>
            </a:r>
            <a:r>
              <a:rPr sz="100" spc="-15" dirty="0">
                <a:latin typeface="Times New Roman"/>
                <a:cs typeface="Times New Roman"/>
              </a:rPr>
              <a:t> </a:t>
            </a:r>
            <a:r>
              <a:rPr sz="100" spc="-20" dirty="0">
                <a:latin typeface="Calibri"/>
                <a:cs typeface="Calibri"/>
              </a:rPr>
              <a:t>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954261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9230359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9506457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9782936" y="4298950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0078973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0355326" y="4298950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0611739" y="4298950"/>
            <a:ext cx="3276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None</a:t>
            </a:r>
            <a:r>
              <a:rPr sz="100" spc="2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</a:t>
            </a:r>
            <a:r>
              <a:rPr sz="100" spc="-10" dirty="0">
                <a:latin typeface="Calibri"/>
                <a:cs typeface="Calibri"/>
                <a:hlinkClick r:id="rId6"/>
              </a:rPr>
              <a:t>www.youtube.com/watch?v=v0</a:t>
            </a:r>
            <a:r>
              <a:rPr sz="100" dirty="0">
                <a:latin typeface="Times New Roman"/>
                <a:cs typeface="Times New Roman"/>
                <a:hlinkClick r:id="rId6"/>
              </a:rPr>
              <a:t> </a:t>
            </a:r>
            <a:r>
              <a:rPr sz="100" spc="-10" dirty="0">
                <a:latin typeface="Calibri"/>
                <a:cs typeface="Calibri"/>
                <a:hlinkClick r:id="rId6"/>
              </a:rPr>
              <a:t>w9p3U8860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1342878" y="4306570"/>
            <a:ext cx="1485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flight-3-mission-summary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1093195" y="4298950"/>
            <a:ext cx="70104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v0w9p3U8860</a:t>
            </a:r>
            <a:r>
              <a:rPr sz="100" spc="35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  <a:hlinkClick r:id="rId7"/>
              </a:rPr>
              <a:t>http://www.spacex.com/news/2013/02/</a:t>
            </a:r>
            <a:r>
              <a:rPr sz="150" spc="7" baseline="27777" dirty="0">
                <a:latin typeface="Times New Roman"/>
                <a:cs typeface="Times New Roman"/>
                <a:hlinkClick r:id="rId7"/>
              </a:rPr>
              <a:t> </a:t>
            </a:r>
            <a:r>
              <a:rPr sz="150" spc="-15" baseline="27777" dirty="0">
                <a:latin typeface="Calibri"/>
                <a:cs typeface="Calibri"/>
                <a:hlinkClick r:id="rId7"/>
              </a:rPr>
              <a:t>11/falcon-</a:t>
            </a:r>
            <a:r>
              <a:rPr sz="150" baseline="27777" dirty="0">
                <a:latin typeface="Calibri"/>
                <a:cs typeface="Calibri"/>
                <a:hlinkClick r:id="rId7"/>
              </a:rPr>
              <a:t>1-</a:t>
            </a:r>
            <a:r>
              <a:rPr sz="150" spc="465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https://en.wikipedia.org/wiki/Trailblaze</a:t>
            </a:r>
            <a:r>
              <a:rPr sz="100" spc="1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r_(sate</a:t>
            </a:r>
            <a:r>
              <a:rPr sz="100" spc="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llite)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1997690" y="4298950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409445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b="1" spc="-5" dirty="0">
                <a:latin typeface="Calibri"/>
                <a:cs typeface="Calibri"/>
              </a:rPr>
              <a:t>3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560933" y="5242052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2008-09-20T00:00:00.000Z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98043" y="5242052"/>
            <a:ext cx="9588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1.221869e+09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218694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494789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781682" y="5242052"/>
            <a:ext cx="412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0.0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930145" y="5242052"/>
            <a:ext cx="16954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5e9d0d95eda69955f709d1eb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2275839" y="5210962"/>
            <a:ext cx="426720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5588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Ratsat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was</a:t>
            </a:r>
            <a:r>
              <a:rPr sz="100" spc="2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carried</a:t>
            </a:r>
            <a:r>
              <a:rPr sz="100" spc="2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to</a:t>
            </a:r>
            <a:r>
              <a:rPr sz="100" spc="1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orbit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on</a:t>
            </a:r>
            <a:r>
              <a:rPr sz="100" spc="10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the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first</a:t>
            </a:r>
            <a:r>
              <a:rPr sz="100" spc="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successful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44780" marR="55880" indent="-8191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True</a:t>
            </a:r>
            <a:r>
              <a:rPr sz="100" spc="265" dirty="0">
                <a:latin typeface="Times New Roman"/>
                <a:cs typeface="Times New Roman"/>
              </a:rPr>
              <a:t>  </a:t>
            </a:r>
            <a:r>
              <a:rPr sz="150" spc="-15" baseline="27777" dirty="0">
                <a:latin typeface="Calibri"/>
                <a:cs typeface="Calibri"/>
              </a:rPr>
              <a:t>orbital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launch</a:t>
            </a:r>
            <a:r>
              <a:rPr sz="150" spc="15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of</a:t>
            </a:r>
            <a:r>
              <a:rPr sz="150" spc="-7" baseline="27777" dirty="0">
                <a:latin typeface="Times New Roman"/>
                <a:cs typeface="Times New Roman"/>
              </a:rPr>
              <a:t> </a:t>
            </a:r>
            <a:r>
              <a:rPr sz="150" baseline="27777" dirty="0">
                <a:latin typeface="Calibri"/>
                <a:cs typeface="Calibri"/>
              </a:rPr>
              <a:t>any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privately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funded</a:t>
            </a:r>
            <a:r>
              <a:rPr sz="150" spc="22" baseline="27777" dirty="0">
                <a:latin typeface="Times New Roman"/>
                <a:cs typeface="Times New Roman"/>
              </a:rPr>
              <a:t> </a:t>
            </a:r>
            <a:r>
              <a:rPr sz="150" spc="-37" baseline="27777" dirty="0">
                <a:latin typeface="Calibri"/>
                <a:cs typeface="Calibri"/>
              </a:rPr>
              <a:t>and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developed,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liquid-propelled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carrier</a:t>
            </a:r>
            <a:r>
              <a:rPr sz="100" spc="7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rocket,</a:t>
            </a:r>
            <a:endParaRPr sz="100">
              <a:latin typeface="Calibri"/>
              <a:cs typeface="Calibri"/>
            </a:endParaRPr>
          </a:p>
          <a:p>
            <a:pPr marR="55880" algn="r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the</a:t>
            </a:r>
            <a:r>
              <a:rPr sz="100" spc="3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SpaceX</a:t>
            </a:r>
            <a:r>
              <a:rPr sz="100" spc="3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Falcon</a:t>
            </a:r>
            <a:r>
              <a:rPr sz="100" spc="25" dirty="0">
                <a:latin typeface="Times New Roman"/>
                <a:cs typeface="Times New Roman"/>
              </a:rPr>
              <a:t> </a:t>
            </a:r>
            <a:r>
              <a:rPr sz="100" spc="-50" dirty="0">
                <a:latin typeface="Calibri"/>
                <a:cs typeface="Calibri"/>
              </a:rPr>
              <a:t>1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2895980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3172205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448558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3580003" y="5242052"/>
            <a:ext cx="1771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[5eb0e4b7b6c3bb0006eeb1e5]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3866769" y="5242052"/>
            <a:ext cx="1657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5e9e4502f5090995de566f86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4260596" y="5242052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True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4553458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4829936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5" dirty="0">
                <a:latin typeface="Calibri"/>
                <a:cs typeface="Calibri"/>
              </a:rPr>
              <a:t>4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5078729" y="5242052"/>
            <a:ext cx="58419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RatSat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5257291" y="5242052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2008-09-28T23:15:00.000Z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5603875" y="5242052"/>
            <a:ext cx="863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1222643700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5803772" y="5242052"/>
            <a:ext cx="1631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2008-09-28T11:15:00+12:00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6194552" y="5242052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hour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6416802" y="5210962"/>
            <a:ext cx="429259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5588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[{'core':</a:t>
            </a:r>
            <a:r>
              <a:rPr sz="100" spc="5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'5e9e289ef3591855dc3b2626',</a:t>
            </a:r>
            <a:r>
              <a:rPr sz="100" spc="1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'flight':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35" dirty="0">
                <a:latin typeface="Calibri"/>
                <a:cs typeface="Calibri"/>
              </a:rPr>
              <a:t>1,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09220" marR="55880" indent="-4635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260" dirty="0">
                <a:latin typeface="Times New Roman"/>
                <a:cs typeface="Times New Roman"/>
              </a:rPr>
              <a:t>  </a:t>
            </a:r>
            <a:r>
              <a:rPr sz="150" spc="-15" baseline="27777" dirty="0">
                <a:latin typeface="Calibri"/>
                <a:cs typeface="Calibri"/>
              </a:rPr>
              <a:t>'gridfins':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'legs':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'reused':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'landing_attempt':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False,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'landing_success':</a:t>
            </a:r>
            <a:r>
              <a:rPr sz="100" spc="1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endParaRPr sz="100">
              <a:latin typeface="Calibri"/>
              <a:cs typeface="Calibri"/>
            </a:endParaRPr>
          </a:p>
          <a:p>
            <a:pPr marR="5461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'landing_type':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r>
              <a:rPr sz="100" spc="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'landpad':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6907530" y="5242052"/>
            <a:ext cx="1644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5eb87cdbffd86e000604b32d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7296404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7572882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7848981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8145018" y="5242052"/>
            <a:ext cx="58420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[]</a:t>
            </a:r>
            <a:r>
              <a:rPr sz="100" spc="32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https://images2.imgbox.com/e9/c9/T8Cfi</a:t>
            </a:r>
            <a:r>
              <a:rPr sz="10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SYb_o.</a:t>
            </a:r>
            <a:r>
              <a:rPr sz="100" spc="-5" dirty="0">
                <a:latin typeface="Times New Roman"/>
                <a:cs typeface="Times New Roman"/>
              </a:rPr>
              <a:t> </a:t>
            </a:r>
            <a:r>
              <a:rPr sz="100" dirty="0">
                <a:latin typeface="Calibri"/>
                <a:cs typeface="Calibri"/>
              </a:rPr>
              <a:t>png</a:t>
            </a:r>
            <a:r>
              <a:rPr sz="100" spc="21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https://images2.imgbox.com/e0/a7/FNjv</a:t>
            </a:r>
            <a:r>
              <a:rPr sz="100" spc="1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KlXW_o.png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8954261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9230359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9506457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9782936" y="5242052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10078973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0355326" y="5242052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10611739" y="5242052"/>
            <a:ext cx="3276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None</a:t>
            </a:r>
            <a:r>
              <a:rPr sz="100" spc="31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</a:t>
            </a:r>
            <a:r>
              <a:rPr sz="100" spc="-10" dirty="0">
                <a:latin typeface="Calibri"/>
                <a:cs typeface="Calibri"/>
                <a:hlinkClick r:id="rId8"/>
              </a:rPr>
              <a:t>www.youtube.com/watch?v=dLQ2tZEH</a:t>
            </a:r>
            <a:r>
              <a:rPr sz="100" spc="-5" dirty="0">
                <a:latin typeface="Times New Roman"/>
                <a:cs typeface="Times New Roman"/>
                <a:hlinkClick r:id="rId8"/>
              </a:rPr>
              <a:t> </a:t>
            </a:r>
            <a:r>
              <a:rPr sz="100" spc="-25" dirty="0">
                <a:latin typeface="Calibri"/>
                <a:cs typeface="Calibri"/>
                <a:hlinkClick r:id="rId8"/>
              </a:rPr>
              <a:t>6G0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11121643" y="5242052"/>
            <a:ext cx="6457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dLQ2tZEH6G0</a:t>
            </a:r>
            <a:r>
              <a:rPr sz="100" spc="285" dirty="0">
                <a:latin typeface="Times New Roman"/>
                <a:cs typeface="Times New Roman"/>
              </a:rPr>
              <a:t>  </a:t>
            </a:r>
            <a:r>
              <a:rPr sz="100" dirty="0">
                <a:latin typeface="Calibri"/>
                <a:cs typeface="Calibri"/>
              </a:rPr>
              <a:t>https://en.wikipedia.org/wiki/Ratsat</a:t>
            </a:r>
            <a:r>
              <a:rPr sz="100" spc="295" dirty="0">
                <a:latin typeface="Times New Roman"/>
                <a:cs typeface="Times New Roman"/>
              </a:rPr>
              <a:t>  </a:t>
            </a:r>
            <a:r>
              <a:rPr sz="100" spc="-10" dirty="0">
                <a:latin typeface="Calibri"/>
                <a:cs typeface="Calibri"/>
              </a:rPr>
              <a:t>https://en.wikipedia.org/wiki/Ratsat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11997690" y="5242052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409445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b="1" spc="-5" dirty="0">
                <a:latin typeface="Calibri"/>
                <a:cs typeface="Calibri"/>
              </a:rPr>
              <a:t>4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666089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946810" y="6184798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1218694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494789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1781682" y="6184798"/>
            <a:ext cx="4127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0.0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1930145" y="6184798"/>
            <a:ext cx="16954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5e9d0d95eda69955f709d1eb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2326639" y="6184798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True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2600070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2895980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3172205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3448558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3580003" y="6184798"/>
            <a:ext cx="1771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[5eb0e4b7b6c3bb0006eeb1e6]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3866769" y="6184798"/>
            <a:ext cx="1657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5e9e4502f5090995de566f86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4260596" y="6184798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True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4553458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4829936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5" dirty="0">
                <a:latin typeface="Calibri"/>
                <a:cs typeface="Calibri"/>
              </a:rPr>
              <a:t>5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5066538" y="6184798"/>
            <a:ext cx="7112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RazakSat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5257291" y="6184798"/>
            <a:ext cx="15621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2009-07-13T03:35:00.000Z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5603875" y="6184798"/>
            <a:ext cx="863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1247456100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5803772" y="6184798"/>
            <a:ext cx="16319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2009-07-13T15:35:00+12:00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6194552" y="6184798"/>
            <a:ext cx="482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hour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404102" y="6153708"/>
            <a:ext cx="454659" cy="939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">
              <a:latin typeface="Times New Roman"/>
              <a:cs typeface="Times New Roman"/>
            </a:endParaRPr>
          </a:p>
          <a:p>
            <a:pPr marR="67945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[{'core':</a:t>
            </a:r>
            <a:r>
              <a:rPr sz="100" spc="5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'5e9e289ef359184f103b2627',</a:t>
            </a:r>
            <a:r>
              <a:rPr sz="100" spc="17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'flight':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35" dirty="0">
                <a:latin typeface="Calibri"/>
                <a:cs typeface="Calibri"/>
              </a:rPr>
              <a:t>1,</a:t>
            </a:r>
            <a:endParaRPr sz="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">
              <a:latin typeface="Calibri"/>
              <a:cs typeface="Calibri"/>
            </a:endParaRPr>
          </a:p>
          <a:p>
            <a:pPr marL="121920" marR="67945" indent="-46355">
              <a:lnSpc>
                <a:spcPct val="50000"/>
              </a:lnSpc>
            </a:pPr>
            <a:r>
              <a:rPr sz="100" dirty="0">
                <a:latin typeface="Calibri"/>
                <a:cs typeface="Calibri"/>
              </a:rPr>
              <a:t>False</a:t>
            </a:r>
            <a:r>
              <a:rPr sz="100" spc="260" dirty="0">
                <a:latin typeface="Times New Roman"/>
                <a:cs typeface="Times New Roman"/>
              </a:rPr>
              <a:t>  </a:t>
            </a:r>
            <a:r>
              <a:rPr sz="150" spc="-15" baseline="27777" dirty="0">
                <a:latin typeface="Calibri"/>
                <a:cs typeface="Calibri"/>
              </a:rPr>
              <a:t>'gridfins':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37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'legs':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44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'reused':</a:t>
            </a:r>
            <a:r>
              <a:rPr sz="150" spc="30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False,</a:t>
            </a:r>
            <a:r>
              <a:rPr sz="150" spc="750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'landing_attempt':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False,</a:t>
            </a:r>
            <a:r>
              <a:rPr sz="100" spc="3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'landing_success':</a:t>
            </a:r>
            <a:r>
              <a:rPr sz="100" spc="15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endParaRPr sz="100">
              <a:latin typeface="Calibri"/>
              <a:cs typeface="Calibri"/>
            </a:endParaRPr>
          </a:p>
          <a:p>
            <a:pPr marR="67310" algn="r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'landing_type':</a:t>
            </a:r>
            <a:r>
              <a:rPr sz="100" spc="9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None,</a:t>
            </a:r>
            <a:r>
              <a:rPr sz="100" spc="75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'landpad':</a:t>
            </a:r>
            <a:r>
              <a:rPr sz="100" spc="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None}]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6909054" y="6184798"/>
            <a:ext cx="1625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5eb87cdcffd86e000604b32e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7296404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7572882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7848981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False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8119618" y="6184798"/>
            <a:ext cx="6356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[]</a:t>
            </a:r>
            <a:r>
              <a:rPr sz="100" spc="180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https://images2.imgbox.com/a7/ba/NBZ</a:t>
            </a:r>
            <a:r>
              <a:rPr sz="150" spc="15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Sw3Ho</a:t>
            </a:r>
            <a:r>
              <a:rPr sz="150" spc="-15" baseline="27777" dirty="0">
                <a:latin typeface="Times New Roman"/>
                <a:cs typeface="Times New Roman"/>
              </a:rPr>
              <a:t> </a:t>
            </a:r>
            <a:r>
              <a:rPr sz="150" baseline="27777" dirty="0">
                <a:latin typeface="Calibri"/>
                <a:cs typeface="Calibri"/>
              </a:rPr>
              <a:t>_o.pn</a:t>
            </a:r>
            <a:r>
              <a:rPr sz="150" spc="412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https://images2.imgbox.com/8d/fc/0qdZ</a:t>
            </a:r>
            <a:r>
              <a:rPr sz="150" spc="15" baseline="27777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</a:rPr>
              <a:t>MWWx_o.p</a:t>
            </a:r>
            <a:endParaRPr sz="150" baseline="27777">
              <a:latin typeface="Calibri"/>
              <a:cs typeface="Calibri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8421371" y="6192418"/>
            <a:ext cx="30734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82575" algn="l"/>
              </a:tabLst>
            </a:pPr>
            <a:r>
              <a:rPr sz="100" spc="-55" dirty="0">
                <a:latin typeface="Calibri"/>
                <a:cs typeface="Calibri"/>
              </a:rPr>
              <a:t>g</a:t>
            </a:r>
            <a:r>
              <a:rPr sz="100" dirty="0">
                <a:latin typeface="Times New Roman"/>
                <a:cs typeface="Times New Roman"/>
              </a:rPr>
              <a:t>	</a:t>
            </a:r>
            <a:r>
              <a:rPr sz="100" spc="-25" dirty="0">
                <a:latin typeface="Calibri"/>
                <a:cs typeface="Calibri"/>
              </a:rPr>
              <a:t>ng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8954261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9230359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9506457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9782936" y="6184798"/>
            <a:ext cx="5143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0" dirty="0">
                <a:latin typeface="Calibri"/>
                <a:cs typeface="Calibri"/>
              </a:rPr>
              <a:t>None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10078973" y="6184798"/>
            <a:ext cx="31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[]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7" name="object 227"/>
          <p:cNvSpPr txBox="1"/>
          <p:nvPr/>
        </p:nvSpPr>
        <p:spPr>
          <a:xfrm>
            <a:off x="10377043" y="6192418"/>
            <a:ext cx="28575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falcon-1-successfully-delivers-razaksat-sa</a:t>
            </a:r>
            <a:r>
              <a:rPr sz="100" spc="260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tellite-orbit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8" name="object 228"/>
          <p:cNvSpPr txBox="1"/>
          <p:nvPr/>
        </p:nvSpPr>
        <p:spPr>
          <a:xfrm>
            <a:off x="10329926" y="6184798"/>
            <a:ext cx="63436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dirty="0">
                <a:latin typeface="Calibri"/>
                <a:cs typeface="Calibri"/>
              </a:rPr>
              <a:t>[]</a:t>
            </a:r>
            <a:r>
              <a:rPr sz="100" spc="220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  <a:hlinkClick r:id="rId9"/>
              </a:rPr>
              <a:t>http://www.spacex.com/press/2012/12/</a:t>
            </a:r>
            <a:r>
              <a:rPr sz="150" spc="-7" baseline="27777" dirty="0">
                <a:latin typeface="Times New Roman"/>
                <a:cs typeface="Times New Roman"/>
                <a:hlinkClick r:id="rId9"/>
              </a:rPr>
              <a:t> </a:t>
            </a:r>
            <a:r>
              <a:rPr sz="150" baseline="27777" dirty="0">
                <a:latin typeface="Calibri"/>
                <a:cs typeface="Calibri"/>
                <a:hlinkClick r:id="rId9"/>
              </a:rPr>
              <a:t>19/spacexs-</a:t>
            </a:r>
            <a:r>
              <a:rPr sz="150" spc="434" baseline="27777" dirty="0">
                <a:latin typeface="Times New Roman"/>
                <a:cs typeface="Times New Roman"/>
              </a:rPr>
              <a:t> </a:t>
            </a:r>
            <a:r>
              <a:rPr sz="100" spc="-10" dirty="0">
                <a:latin typeface="Calibri"/>
                <a:cs typeface="Calibri"/>
              </a:rPr>
              <a:t>https://</a:t>
            </a:r>
            <a:r>
              <a:rPr sz="100" spc="-10" dirty="0">
                <a:latin typeface="Calibri"/>
                <a:cs typeface="Calibri"/>
                <a:hlinkClick r:id="rId10"/>
              </a:rPr>
              <a:t>www.youtube.com/watch?v=yT</a:t>
            </a:r>
            <a:r>
              <a:rPr sz="100" spc="-5" dirty="0">
                <a:latin typeface="Times New Roman"/>
                <a:cs typeface="Times New Roman"/>
                <a:hlinkClick r:id="rId10"/>
              </a:rPr>
              <a:t> </a:t>
            </a:r>
            <a:r>
              <a:rPr sz="100" spc="-10" dirty="0">
                <a:latin typeface="Calibri"/>
                <a:cs typeface="Calibri"/>
                <a:hlinkClick r:id="rId10"/>
              </a:rPr>
              <a:t>aIDooc8Og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11431269" y="6192418"/>
            <a:ext cx="6096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flight-</a:t>
            </a:r>
            <a:r>
              <a:rPr sz="100" spc="-50" dirty="0">
                <a:latin typeface="Calibri"/>
                <a:cs typeface="Calibri"/>
              </a:rPr>
              <a:t>5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11099292" y="6184798"/>
            <a:ext cx="694055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00" spc="-10" dirty="0">
                <a:latin typeface="Calibri"/>
                <a:cs typeface="Calibri"/>
              </a:rPr>
              <a:t>yTaIDooc8Og</a:t>
            </a:r>
            <a:r>
              <a:rPr sz="100" spc="145" dirty="0">
                <a:latin typeface="Times New Roman"/>
                <a:cs typeface="Times New Roman"/>
              </a:rPr>
              <a:t> </a:t>
            </a:r>
            <a:r>
              <a:rPr sz="150" spc="-15" baseline="27777" dirty="0">
                <a:latin typeface="Calibri"/>
                <a:cs typeface="Calibri"/>
                <a:hlinkClick r:id="rId11"/>
              </a:rPr>
              <a:t>http://www.spacex.com/news/2013/02/</a:t>
            </a:r>
            <a:r>
              <a:rPr sz="150" spc="-22" baseline="27777" dirty="0">
                <a:latin typeface="Times New Roman"/>
                <a:cs typeface="Times New Roman"/>
                <a:hlinkClick r:id="rId11"/>
              </a:rPr>
              <a:t> </a:t>
            </a:r>
            <a:r>
              <a:rPr sz="150" spc="-15" baseline="27777" dirty="0">
                <a:latin typeface="Calibri"/>
                <a:cs typeface="Calibri"/>
                <a:hlinkClick r:id="rId11"/>
              </a:rPr>
              <a:t>12/falcon-</a:t>
            </a:r>
            <a:r>
              <a:rPr sz="150" baseline="27777" dirty="0">
                <a:latin typeface="Calibri"/>
                <a:cs typeface="Calibri"/>
                <a:hlinkClick r:id="rId11"/>
              </a:rPr>
              <a:t>1-</a:t>
            </a:r>
            <a:r>
              <a:rPr sz="150" spc="562" baseline="27777" dirty="0">
                <a:latin typeface="Times New Roman"/>
                <a:cs typeface="Times New Roman"/>
              </a:rPr>
              <a:t>  </a:t>
            </a:r>
            <a:r>
              <a:rPr sz="100" spc="-10" dirty="0">
                <a:latin typeface="Calibri"/>
                <a:cs typeface="Calibri"/>
              </a:rPr>
              <a:t>https://en.wikipedia.org/wiki/RazakSAT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11997690" y="6184798"/>
            <a:ext cx="46990" cy="4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spc="-25" dirty="0">
                <a:latin typeface="Calibri"/>
                <a:cs typeface="Calibri"/>
              </a:rPr>
              <a:t>NaN</a:t>
            </a:r>
            <a:endParaRPr sz="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995743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8406765" algn="l"/>
              </a:tabLst>
            </a:pPr>
            <a:r>
              <a:rPr dirty="0"/>
              <a:t>Using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dirty="0"/>
              <a:t>API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spc="-10" dirty="0"/>
              <a:t>again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spc="-10" dirty="0"/>
              <a:t>to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10" dirty="0"/>
              <a:t>get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10" dirty="0"/>
              <a:t>information</a:t>
            </a:r>
            <a:r>
              <a:rPr spc="-285" dirty="0">
                <a:latin typeface="Times New Roman"/>
                <a:cs typeface="Times New Roman"/>
              </a:rPr>
              <a:t> </a:t>
            </a:r>
            <a:r>
              <a:rPr dirty="0"/>
              <a:t>about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25" dirty="0"/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launches</a:t>
            </a:r>
            <a:r>
              <a:rPr spc="-300" dirty="0">
                <a:latin typeface="Times New Roman"/>
                <a:cs typeface="Times New Roman"/>
              </a:rPr>
              <a:t> </a:t>
            </a:r>
            <a:r>
              <a:rPr dirty="0"/>
              <a:t>using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ids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0" dirty="0"/>
              <a:t>given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0" dirty="0"/>
              <a:t>for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0" dirty="0"/>
              <a:t>each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-10" dirty="0"/>
              <a:t>launch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7" y="1816351"/>
            <a:ext cx="9211310" cy="440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We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will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now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use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API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again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to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get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information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about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launches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using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IDs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given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for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each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launch.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Specifically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will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be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using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columns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rocket,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payloads,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launchpad,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and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cores.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#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Lets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take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subset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of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our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dataframe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keeping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only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features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want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and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flight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number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and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date_utc.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data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=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data[['rocket','payloads','launchpad','cores',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'flight_number','date_utc']]</a:t>
            </a:r>
            <a:endParaRPr sz="900">
              <a:latin typeface="Aptos"/>
              <a:cs typeface="Apto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1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75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#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will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remove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rows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with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multiple</a:t>
            </a:r>
            <a:r>
              <a:rPr sz="900" spc="-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cores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because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those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are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falcon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rockets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with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extra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rocketboosters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and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rows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that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have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multiple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payloads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in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asingle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rocket.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data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=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data[data['cores'].map(len)==1]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data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=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data[data['payloads'].map(len)==1]</a:t>
            </a:r>
            <a:endParaRPr sz="900">
              <a:latin typeface="Aptos"/>
              <a:cs typeface="Apto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1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75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#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Since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payloads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and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cores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are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lists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of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size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1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will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also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extract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single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value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in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list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and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replace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feature.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spc="-10" dirty="0">
                <a:latin typeface="Aptos"/>
                <a:cs typeface="Aptos"/>
              </a:rPr>
              <a:t>data['cores']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data['cores'].map(lambda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x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: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x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Aptos"/>
                <a:cs typeface="Aptos"/>
              </a:rPr>
              <a:t>[0])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spc="-10" dirty="0">
                <a:latin typeface="Aptos"/>
                <a:cs typeface="Aptos"/>
              </a:rPr>
              <a:t>data['payloads']=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data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['payloads'].map(lambda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x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: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x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Aptos"/>
                <a:cs typeface="Aptos"/>
              </a:rPr>
              <a:t>[0])</a:t>
            </a:r>
            <a:endParaRPr sz="900">
              <a:latin typeface="Aptos"/>
              <a:cs typeface="Apto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1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75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#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also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want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to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convert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date_utc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to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datetime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datatype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and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then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extracting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date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leaving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Aptos"/>
                <a:cs typeface="Aptos"/>
              </a:rPr>
              <a:t>time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data['date']</a:t>
            </a:r>
            <a:r>
              <a:rPr sz="900" spc="-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=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pd.to_datetime(data['date_utc']).dt.date</a:t>
            </a:r>
            <a:endParaRPr sz="900">
              <a:latin typeface="Aptos"/>
              <a:cs typeface="Aptos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1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75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#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Using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date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will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restrict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dates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of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launches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data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=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data[data['date']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&lt;=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datetime.date(2020,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11,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Aptos"/>
                <a:cs typeface="Aptos"/>
              </a:rPr>
              <a:t>13)]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rom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rocket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would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like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to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learn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booster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Aptos"/>
                <a:cs typeface="Aptos"/>
              </a:rPr>
              <a:t>name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From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payload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would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like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to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learn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mass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of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payload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and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orbit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that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it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is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going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Aptos"/>
                <a:cs typeface="Aptos"/>
              </a:rPr>
              <a:t>to</a:t>
            </a:r>
            <a:endParaRPr sz="9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900" dirty="0">
                <a:latin typeface="Aptos"/>
                <a:cs typeface="Aptos"/>
              </a:rPr>
              <a:t>From</a:t>
            </a:r>
            <a:r>
              <a:rPr sz="900" spc="-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launchpad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we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would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like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to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know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name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of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launch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site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being</a:t>
            </a:r>
            <a:r>
              <a:rPr sz="900" spc="-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used,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longitude,</a:t>
            </a:r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and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ptos"/>
                <a:cs typeface="Aptos"/>
              </a:rPr>
              <a:t>the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ptos"/>
                <a:cs typeface="Aptos"/>
              </a:rPr>
              <a:t>latitude.</a:t>
            </a:r>
            <a:endParaRPr sz="9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Lists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0" dirty="0"/>
              <a:t>to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25" dirty="0"/>
              <a:t>store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0" dirty="0"/>
              <a:t>data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0" dirty="0"/>
              <a:t>from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dirty="0"/>
              <a:t>these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20" dirty="0"/>
              <a:t>requests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25" dirty="0"/>
              <a:t>be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used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10" dirty="0"/>
              <a:t>to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5" dirty="0"/>
              <a:t>create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new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0" dirty="0"/>
              <a:t>data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spc="-20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1014"/>
            <a:ext cx="1796414" cy="43307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latin typeface="Aptos"/>
                <a:cs typeface="Aptos"/>
              </a:rPr>
              <a:t>BoosterVersion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latin typeface="Aptos"/>
                <a:cs typeface="Aptos"/>
              </a:rPr>
              <a:t>PayloadMass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Orbit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latin typeface="Aptos"/>
                <a:cs typeface="Aptos"/>
              </a:rPr>
              <a:t>launchSite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Outcome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Flights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latin typeface="Aptos"/>
                <a:cs typeface="Aptos"/>
              </a:rPr>
              <a:t>GridFins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Reused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Legs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latin typeface="Aptos"/>
                <a:cs typeface="Aptos"/>
              </a:rPr>
              <a:t>LandingPad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Block</a:t>
            </a:r>
            <a:r>
              <a:rPr sz="1500" spc="-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ReusedCount</a:t>
            </a:r>
            <a:r>
              <a:rPr sz="1500" spc="-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Serial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Longitude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500" dirty="0">
                <a:latin typeface="Aptos"/>
                <a:cs typeface="Aptos"/>
              </a:rPr>
              <a:t>Latitude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=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[]</a:t>
            </a:r>
            <a:endParaRPr sz="15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81870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Show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dirty="0"/>
              <a:t>summary</a:t>
            </a:r>
            <a:r>
              <a:rPr spc="-275" dirty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the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dataframe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8023" y="1418082"/>
            <a:ext cx="12573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10" dirty="0">
                <a:latin typeface="Calibri"/>
                <a:cs typeface="Calibri"/>
              </a:rPr>
              <a:t>rocket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4825" y="1418082"/>
            <a:ext cx="16446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10" dirty="0">
                <a:latin typeface="Calibri"/>
                <a:cs typeface="Calibri"/>
              </a:rPr>
              <a:t>payloads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8136" y="1418082"/>
            <a:ext cx="18605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10" dirty="0">
                <a:latin typeface="Calibri"/>
                <a:cs typeface="Calibri"/>
              </a:rPr>
              <a:t>launchpad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9366" y="1418082"/>
            <a:ext cx="10922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10" dirty="0">
                <a:latin typeface="Calibri"/>
                <a:cs typeface="Calibri"/>
              </a:rPr>
              <a:t>cores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3806" y="1418082"/>
            <a:ext cx="249554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10" dirty="0">
                <a:latin typeface="Calibri"/>
                <a:cs typeface="Calibri"/>
              </a:rPr>
              <a:t>flight_number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14052" y="1418082"/>
            <a:ext cx="16510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10" dirty="0">
                <a:latin typeface="Calibri"/>
                <a:cs typeface="Calibri"/>
              </a:rPr>
              <a:t>date_utc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55756" y="1418082"/>
            <a:ext cx="9652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spc="-20" dirty="0">
                <a:latin typeface="Calibri"/>
                <a:cs typeface="Calibri"/>
              </a:rPr>
              <a:t>date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3766" y="1973071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latin typeface="Calibri"/>
                <a:cs typeface="Calibri"/>
              </a:rPr>
              <a:t>0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9882" y="1973071"/>
            <a:ext cx="48387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5e9d0d95eda69955f709d1eb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8434" y="1973071"/>
            <a:ext cx="489584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5eb0e4b5b6c3bb0006eeb1e1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80101" y="1927352"/>
            <a:ext cx="18484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502920" algn="r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sz="300" spc="-10" dirty="0">
                <a:latin typeface="Calibri"/>
                <a:cs typeface="Calibri"/>
              </a:rPr>
              <a:t>{'core':</a:t>
            </a:r>
            <a:r>
              <a:rPr sz="300" spc="3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'5e9e289df35918033d3b2623',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'flight':</a:t>
            </a:r>
            <a:r>
              <a:rPr sz="300" spc="35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1,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'gridfins':</a:t>
            </a:r>
            <a:r>
              <a:rPr sz="3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25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'legs':</a:t>
            </a:r>
            <a:r>
              <a:rPr sz="300" spc="3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2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'reused':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5e9e4502f5090995de566f86</a:t>
            </a:r>
            <a:r>
              <a:rPr sz="300" dirty="0">
                <a:latin typeface="Times New Roman"/>
                <a:cs typeface="Times New Roman"/>
              </a:rPr>
              <a:t>	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5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'landing_attempt':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8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'landing_success':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'landing_type':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endParaRPr sz="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" spc="-10" dirty="0">
                <a:latin typeface="Calibri"/>
                <a:cs typeface="Calibri"/>
              </a:rPr>
              <a:t>'landpad':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None}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58021" y="1973071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36683" y="1973071"/>
            <a:ext cx="44132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2006-</a:t>
            </a:r>
            <a:r>
              <a:rPr sz="300" spc="-10" dirty="0">
                <a:latin typeface="Calibri"/>
                <a:cs typeface="Calibri"/>
              </a:rPr>
              <a:t>03-24T22:30:00.000Z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47552" y="1973071"/>
            <a:ext cx="20383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2006-</a:t>
            </a:r>
            <a:r>
              <a:rPr sz="300" spc="-10" dirty="0">
                <a:latin typeface="Calibri"/>
                <a:cs typeface="Calibri"/>
              </a:rPr>
              <a:t>03-</a:t>
            </a:r>
            <a:r>
              <a:rPr sz="300" spc="-25" dirty="0">
                <a:latin typeface="Calibri"/>
                <a:cs typeface="Calibri"/>
              </a:rPr>
              <a:t>24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3766" y="2969514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latin typeface="Calibri"/>
                <a:cs typeface="Calibri"/>
              </a:rPr>
              <a:t>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9882" y="2969514"/>
            <a:ext cx="48387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5e9d0d95eda69955f709d1eb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88434" y="2969514"/>
            <a:ext cx="489584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5eb0e4b6b6c3bb0006eeb1e2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0101" y="2969514"/>
            <a:ext cx="47244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5e9e4502f5090995de566f86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87592" y="2923794"/>
            <a:ext cx="1341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715" indent="-117475" algn="r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{'core':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'5e9e289ef35918416a3b2624',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'flight':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1,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'gridfins':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'legs':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'reused':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'landing_attempt':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8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'landing_success':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'landing_type':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20" dirty="0">
                <a:latin typeface="Calibri"/>
                <a:cs typeface="Calibri"/>
              </a:rPr>
              <a:t>None,</a:t>
            </a:r>
            <a:endParaRPr sz="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" spc="-10" dirty="0">
                <a:latin typeface="Calibri"/>
                <a:cs typeface="Calibri"/>
              </a:rPr>
              <a:t>'landpad':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None}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58021" y="2969514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36683" y="2969514"/>
            <a:ext cx="44132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2007-</a:t>
            </a:r>
            <a:r>
              <a:rPr sz="300" spc="-10" dirty="0">
                <a:latin typeface="Calibri"/>
                <a:cs typeface="Calibri"/>
              </a:rPr>
              <a:t>03-21T01:10:00.000Z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47552" y="2969514"/>
            <a:ext cx="20383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2007-</a:t>
            </a:r>
            <a:r>
              <a:rPr sz="300" spc="-10" dirty="0">
                <a:latin typeface="Calibri"/>
                <a:cs typeface="Calibri"/>
              </a:rPr>
              <a:t>03-</a:t>
            </a:r>
            <a:r>
              <a:rPr sz="300" spc="-25" dirty="0">
                <a:latin typeface="Calibri"/>
                <a:cs typeface="Calibri"/>
              </a:rPr>
              <a:t>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83766" y="3965575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latin typeface="Calibri"/>
                <a:cs typeface="Calibri"/>
              </a:rPr>
              <a:t>3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19882" y="3965575"/>
            <a:ext cx="48387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5e9d0d95eda69955f709d1eb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88434" y="3965575"/>
            <a:ext cx="489584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5eb0e4b7b6c3bb0006eeb1e5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80101" y="3919854"/>
            <a:ext cx="1848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507365" algn="r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sz="300" spc="-10" dirty="0">
                <a:latin typeface="Calibri"/>
                <a:cs typeface="Calibri"/>
              </a:rPr>
              <a:t>{'core':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'5e9e289ef3591855dc3b2626',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'flight':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1,</a:t>
            </a:r>
            <a:r>
              <a:rPr sz="300" spc="15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'gridfins':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'legs':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'reused':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5e9e4502f5090995de566f86</a:t>
            </a:r>
            <a:r>
              <a:rPr sz="300" dirty="0">
                <a:latin typeface="Times New Roman"/>
                <a:cs typeface="Times New Roman"/>
              </a:rPr>
              <a:t>	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5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'landing_attempt':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8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'landing_success':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'landing_type':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endParaRPr sz="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" spc="-10" dirty="0">
                <a:latin typeface="Calibri"/>
                <a:cs typeface="Calibri"/>
              </a:rPr>
              <a:t>'landpad':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None}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58021" y="3965575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4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536683" y="3965575"/>
            <a:ext cx="44132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2008-</a:t>
            </a:r>
            <a:r>
              <a:rPr sz="300" spc="-10" dirty="0">
                <a:latin typeface="Calibri"/>
                <a:cs typeface="Calibri"/>
              </a:rPr>
              <a:t>09-28T23:15:00.000Z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147552" y="3965575"/>
            <a:ext cx="20383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2008-</a:t>
            </a:r>
            <a:r>
              <a:rPr sz="300" spc="-10" dirty="0">
                <a:latin typeface="Calibri"/>
                <a:cs typeface="Calibri"/>
              </a:rPr>
              <a:t>09-</a:t>
            </a:r>
            <a:r>
              <a:rPr sz="300" spc="-25" dirty="0">
                <a:latin typeface="Calibri"/>
                <a:cs typeface="Calibri"/>
              </a:rPr>
              <a:t>28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83766" y="4961635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latin typeface="Calibri"/>
                <a:cs typeface="Calibri"/>
              </a:rPr>
              <a:t>4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19882" y="4961635"/>
            <a:ext cx="48387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5e9d0d95eda69955f709d1eb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88434" y="4961635"/>
            <a:ext cx="489584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5eb0e4b7b6c3bb0006eeb1e6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80101" y="4915916"/>
            <a:ext cx="1848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513080" algn="r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sz="300" spc="-10" dirty="0">
                <a:latin typeface="Calibri"/>
                <a:cs typeface="Calibri"/>
              </a:rPr>
              <a:t>{'core':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'5e9e289ef359184f103b2627',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'flight':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1,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'gridfins':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'legs':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'reused':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5e9e4502f5090995de566f86</a:t>
            </a:r>
            <a:r>
              <a:rPr sz="300" dirty="0">
                <a:latin typeface="Times New Roman"/>
                <a:cs typeface="Times New Roman"/>
              </a:rPr>
              <a:t>	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5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'landing_attempt':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8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'landing_success':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'landing_type':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endParaRPr sz="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" spc="-10" dirty="0">
                <a:latin typeface="Calibri"/>
                <a:cs typeface="Calibri"/>
              </a:rPr>
              <a:t>'landpad':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None}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58021" y="4961635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5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536683" y="4961635"/>
            <a:ext cx="44132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2009-</a:t>
            </a:r>
            <a:r>
              <a:rPr sz="300" spc="-10" dirty="0">
                <a:latin typeface="Calibri"/>
                <a:cs typeface="Calibri"/>
              </a:rPr>
              <a:t>07-13T03:35:00.000Z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147552" y="4961635"/>
            <a:ext cx="20383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2009-</a:t>
            </a:r>
            <a:r>
              <a:rPr sz="300" spc="-10" dirty="0">
                <a:latin typeface="Calibri"/>
                <a:cs typeface="Calibri"/>
              </a:rPr>
              <a:t>07-</a:t>
            </a:r>
            <a:r>
              <a:rPr sz="300" spc="-25" dirty="0">
                <a:latin typeface="Calibri"/>
                <a:cs typeface="Calibri"/>
              </a:rPr>
              <a:t>13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83766" y="5957723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b="1" dirty="0">
                <a:latin typeface="Calibri"/>
                <a:cs typeface="Calibri"/>
              </a:rPr>
              <a:t>5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16835" y="5957723"/>
            <a:ext cx="486409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5e9d0d95eda69973a809d1ec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88434" y="5957723"/>
            <a:ext cx="489584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5eb0e4b7b6c3bb0006eeb1e7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81625" y="5957723"/>
            <a:ext cx="471170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5e9e4501f509094ba4566f84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92165" y="5912003"/>
            <a:ext cx="1336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095" marR="5715" indent="-113030" algn="r">
              <a:lnSpc>
                <a:spcPct val="100000"/>
              </a:lnSpc>
              <a:spcBef>
                <a:spcPts val="100"/>
              </a:spcBef>
            </a:pPr>
            <a:r>
              <a:rPr sz="300" spc="-10" dirty="0">
                <a:latin typeface="Calibri"/>
                <a:cs typeface="Calibri"/>
              </a:rPr>
              <a:t>{'core':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'5e9e289ef359185f2b3b2628',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'flight':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1,</a:t>
            </a:r>
            <a:r>
              <a:rPr sz="300" spc="15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'gridfins':</a:t>
            </a:r>
            <a:r>
              <a:rPr sz="300" spc="-1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0" dirty="0">
                <a:latin typeface="Times New Roman"/>
                <a:cs typeface="Times New Roman"/>
              </a:rPr>
              <a:t> </a:t>
            </a:r>
            <a:r>
              <a:rPr sz="300" dirty="0">
                <a:latin typeface="Calibri"/>
                <a:cs typeface="Calibri"/>
              </a:rPr>
              <a:t>'legs':</a:t>
            </a:r>
            <a:r>
              <a:rPr sz="300" spc="2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1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'reused':</a:t>
            </a:r>
            <a:r>
              <a:rPr sz="300" spc="5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'landing_attempt':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False,</a:t>
            </a:r>
            <a:r>
              <a:rPr sz="300" spc="8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'landing_success':</a:t>
            </a:r>
            <a:r>
              <a:rPr sz="300" spc="40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None,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'landing_type':</a:t>
            </a:r>
            <a:r>
              <a:rPr sz="300" spc="100" dirty="0">
                <a:latin typeface="Times New Roman"/>
                <a:cs typeface="Times New Roman"/>
              </a:rPr>
              <a:t> </a:t>
            </a:r>
            <a:r>
              <a:rPr sz="300" spc="-20" dirty="0">
                <a:latin typeface="Calibri"/>
                <a:cs typeface="Calibri"/>
              </a:rPr>
              <a:t>None,</a:t>
            </a:r>
            <a:endParaRPr sz="3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" spc="-10" dirty="0">
                <a:latin typeface="Calibri"/>
                <a:cs typeface="Calibri"/>
              </a:rPr>
              <a:t>'landpad':</a:t>
            </a:r>
            <a:r>
              <a:rPr sz="300" spc="55" dirty="0">
                <a:latin typeface="Times New Roman"/>
                <a:cs typeface="Times New Roman"/>
              </a:rPr>
              <a:t> </a:t>
            </a:r>
            <a:r>
              <a:rPr sz="300" spc="-10" dirty="0">
                <a:latin typeface="Calibri"/>
                <a:cs typeface="Calibri"/>
              </a:rPr>
              <a:t>None}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558021" y="5957723"/>
            <a:ext cx="4508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6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536683" y="5957723"/>
            <a:ext cx="44132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2010-</a:t>
            </a:r>
            <a:r>
              <a:rPr sz="300" spc="-10" dirty="0">
                <a:latin typeface="Calibri"/>
                <a:cs typeface="Calibri"/>
              </a:rPr>
              <a:t>06-04T18:45:00.000Z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147552" y="5957723"/>
            <a:ext cx="203835" cy="7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" dirty="0">
                <a:latin typeface="Calibri"/>
                <a:cs typeface="Calibri"/>
              </a:rPr>
              <a:t>2010-</a:t>
            </a:r>
            <a:r>
              <a:rPr sz="300" spc="-10" dirty="0">
                <a:latin typeface="Calibri"/>
                <a:cs typeface="Calibri"/>
              </a:rPr>
              <a:t>06-</a:t>
            </a:r>
            <a:r>
              <a:rPr sz="300" spc="-25" dirty="0">
                <a:latin typeface="Calibri"/>
                <a:cs typeface="Calibri"/>
              </a:rPr>
              <a:t>04</a:t>
            </a:r>
            <a:endParaRPr sz="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94615"/>
            <a:ext cx="1009904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5" dirty="0"/>
              <a:t>Task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2: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35" dirty="0"/>
              <a:t>Filter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40" dirty="0"/>
              <a:t>dataframe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spc="-40" dirty="0"/>
              <a:t>to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only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include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10" dirty="0"/>
              <a:t>Falcon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dirty="0"/>
              <a:t>9</a:t>
            </a:r>
            <a:r>
              <a:rPr sz="4000" spc="-250" dirty="0">
                <a:latin typeface="Times New Roman"/>
                <a:cs typeface="Times New Roman"/>
              </a:rPr>
              <a:t> </a:t>
            </a:r>
            <a:r>
              <a:rPr sz="4000" spc="-10" dirty="0"/>
              <a:t>launches</a:t>
            </a:r>
            <a:r>
              <a:rPr sz="40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4" y="1717823"/>
            <a:ext cx="10253345" cy="43294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getBoosterVersion(data)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5" dirty="0">
                <a:latin typeface="Aptos"/>
                <a:cs typeface="Aptos"/>
              </a:rPr>
              <a:t>['Falcon1',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'Falcon1',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'Falcon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Aptos"/>
                <a:cs typeface="Aptos"/>
              </a:rPr>
              <a:t>1',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'Falcon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Aptos"/>
                <a:cs typeface="Aptos"/>
              </a:rPr>
              <a:t>1',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'Falcon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9']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data_fal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Aptos"/>
                <a:cs typeface="Aptos"/>
              </a:rPr>
              <a:t>#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Reset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Index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so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it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Aptos"/>
                <a:cs typeface="Aptos"/>
              </a:rPr>
              <a:t>strats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at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0,1,2....</a:t>
            </a:r>
            <a:endParaRPr sz="2800">
              <a:latin typeface="Aptos"/>
              <a:cs typeface="Aptos"/>
            </a:endParaRPr>
          </a:p>
          <a:p>
            <a:pPr marL="241300" marR="1840230" indent="-228600">
              <a:lnSpc>
                <a:spcPts val="269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filtered_df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filtered_df.reset_index(drop=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ptos"/>
                <a:cs typeface="Aptos"/>
              </a:rPr>
              <a:t>True)con9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=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data.loc[data['Flights'] </a:t>
            </a:r>
            <a:r>
              <a:rPr sz="2800" dirty="0">
                <a:latin typeface="Aptos"/>
                <a:cs typeface="Aptos"/>
              </a:rPr>
              <a:t>==</a:t>
            </a:r>
            <a:r>
              <a:rPr sz="2800" spc="10" dirty="0">
                <a:latin typeface="Aptos"/>
                <a:cs typeface="Aptos"/>
              </a:rPr>
              <a:t> </a:t>
            </a:r>
            <a:r>
              <a:rPr sz="2800" spc="-10" dirty="0">
                <a:latin typeface="Aptos"/>
                <a:cs typeface="Aptos"/>
              </a:rPr>
              <a:t>'falcon9’]</a:t>
            </a:r>
            <a:endParaRPr sz="2800">
              <a:latin typeface="Aptos"/>
              <a:cs typeface="Aptos"/>
            </a:endParaRPr>
          </a:p>
          <a:p>
            <a:pPr marL="12700" marR="215900">
              <a:lnSpc>
                <a:spcPct val="80000"/>
              </a:lnSpc>
              <a:spcBef>
                <a:spcPts val="1030"/>
              </a:spcBef>
            </a:pPr>
            <a:r>
              <a:rPr sz="2800" spc="-20" dirty="0">
                <a:latin typeface="Aptos"/>
                <a:cs typeface="Aptos"/>
              </a:rPr>
              <a:t>print("Number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of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Nan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values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for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column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Falcon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1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Aptos"/>
                <a:cs typeface="Aptos"/>
              </a:rPr>
              <a:t>:",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df['Falcon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1'].isnull().sum())</a:t>
            </a:r>
            <a:endParaRPr sz="2800">
              <a:latin typeface="Aptos"/>
              <a:cs typeface="Aptos"/>
            </a:endParaRPr>
          </a:p>
          <a:p>
            <a:pPr marL="12700" marR="5080">
              <a:lnSpc>
                <a:spcPts val="2690"/>
              </a:lnSpc>
              <a:spcBef>
                <a:spcPts val="975"/>
              </a:spcBef>
            </a:pPr>
            <a:r>
              <a:rPr sz="2800" spc="-10" dirty="0">
                <a:latin typeface="Aptos"/>
                <a:cs typeface="Aptos"/>
              </a:rPr>
              <a:t>print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("Number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of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Nan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Aptos"/>
                <a:cs typeface="Aptos"/>
              </a:rPr>
              <a:t>Values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for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column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Falcon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9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Aptos"/>
                <a:cs typeface="Aptos"/>
              </a:rPr>
              <a:t>:",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df['Falcom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9'"].isnull().sum())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82035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Task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3: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Dealing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Missing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20" dirty="0"/>
              <a:t>Values</a:t>
            </a:r>
            <a:r>
              <a:rPr u="sng" spc="-2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07163"/>
            <a:ext cx="10245090" cy="3348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Aptos"/>
                <a:cs typeface="Aptos"/>
              </a:rPr>
              <a:t>mean=df['Falcon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9'].mean()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df['Falcon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9'].replace(np.nan),mean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inplace=True</a:t>
            </a:r>
            <a:endParaRPr sz="28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900">
              <a:latin typeface="Aptos"/>
              <a:cs typeface="Aptos"/>
            </a:endParaRPr>
          </a:p>
          <a:p>
            <a:pPr marL="241300" marR="5080" indent="-228600">
              <a:lnSpc>
                <a:spcPts val="303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print("number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of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Nan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Aptos"/>
                <a:cs typeface="Aptos"/>
              </a:rPr>
              <a:t>Values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for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the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column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Falcon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1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Aptos"/>
                <a:cs typeface="Aptos"/>
              </a:rPr>
              <a:t>:",</a:t>
            </a:r>
            <a:r>
              <a:rPr sz="2800" spc="-20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df['Falcon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1'].isnull().sum())</a:t>
            </a:r>
            <a:endParaRPr sz="2800">
              <a:latin typeface="Aptos"/>
              <a:cs typeface="Aptos"/>
            </a:endParaRPr>
          </a:p>
          <a:p>
            <a:pPr marL="240665" marR="5080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print("number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of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Nan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Aptos"/>
                <a:cs typeface="Aptos"/>
              </a:rPr>
              <a:t>Values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for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column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Falcon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9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Aptos"/>
                <a:cs typeface="Aptos"/>
              </a:rPr>
              <a:t>:",</a:t>
            </a:r>
            <a:r>
              <a:rPr sz="2800" spc="-2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df['Falcon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9'].isnull().sum())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380" y="1655775"/>
            <a:ext cx="6092825" cy="23139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9209" marR="20955" indent="135255">
              <a:lnSpc>
                <a:spcPts val="6480"/>
              </a:lnSpc>
              <a:spcBef>
                <a:spcPts val="915"/>
              </a:spcBef>
            </a:pPr>
            <a:r>
              <a:rPr sz="6000" spc="-30" dirty="0"/>
              <a:t>Predictive</a:t>
            </a:r>
            <a:r>
              <a:rPr sz="6000" spc="-275" dirty="0">
                <a:latin typeface="Times New Roman"/>
                <a:cs typeface="Times New Roman"/>
              </a:rPr>
              <a:t> </a:t>
            </a:r>
            <a:r>
              <a:rPr sz="6000" spc="-10" dirty="0"/>
              <a:t>Analysis</a:t>
            </a:r>
            <a:r>
              <a:rPr sz="6000" spc="-10" dirty="0">
                <a:latin typeface="Times New Roman"/>
                <a:cs typeface="Times New Roman"/>
              </a:rPr>
              <a:t> </a:t>
            </a:r>
            <a:r>
              <a:rPr sz="6000" dirty="0"/>
              <a:t>Methodology</a:t>
            </a:r>
            <a:r>
              <a:rPr sz="6000" spc="-335" dirty="0">
                <a:latin typeface="Times New Roman"/>
                <a:cs typeface="Times New Roman"/>
              </a:rPr>
              <a:t> </a:t>
            </a:r>
            <a:r>
              <a:rPr sz="6000" spc="-10" dirty="0"/>
              <a:t>Slides</a:t>
            </a:r>
            <a:endParaRPr sz="6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spc="-10" dirty="0">
                <a:latin typeface="Aptos"/>
                <a:cs typeface="Aptos"/>
              </a:rPr>
              <a:t>Complete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the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Machine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Learning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Prediction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ptos"/>
                <a:cs typeface="Aptos"/>
              </a:rPr>
              <a:t>lab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6475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Standardize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73"/>
            <a:ext cx="9734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  <a:tab pos="3982085" algn="l"/>
                <a:tab pos="8318500" algn="l"/>
                <a:tab pos="9430385" algn="l"/>
              </a:tabLst>
            </a:pPr>
            <a:r>
              <a:rPr sz="2800" spc="-20" dirty="0">
                <a:latin typeface="Aptos"/>
                <a:cs typeface="Aptos"/>
              </a:rPr>
              <a:t>pipeline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Pipeline([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Aptos"/>
                <a:cs typeface="Aptos"/>
              </a:rPr>
              <a:t>('scaler',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StandardScaler()),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Aptos"/>
                <a:cs typeface="Aptos"/>
              </a:rPr>
              <a:t>#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Step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Aptos"/>
                <a:cs typeface="Aptos"/>
              </a:rPr>
              <a:t>1:</a:t>
            </a:r>
            <a:endParaRPr sz="28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9" y="2176401"/>
            <a:ext cx="8731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03345" algn="l"/>
              </a:tabLst>
            </a:pPr>
            <a:r>
              <a:rPr sz="2800" spc="-25" dirty="0">
                <a:latin typeface="Aptos"/>
                <a:cs typeface="Aptos"/>
              </a:rPr>
              <a:t>Standardize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features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70" dirty="0">
                <a:latin typeface="Aptos"/>
                <a:cs typeface="Aptos"/>
              </a:rPr>
              <a:t>('pca',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PCA(n_components=2),),</a:t>
            </a:r>
            <a:endParaRPr sz="280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2592" y="2176401"/>
            <a:ext cx="216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ptos"/>
                <a:cs typeface="Aptos"/>
              </a:rPr>
              <a:t>#</a:t>
            </a:r>
            <a:endParaRPr sz="28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9" y="2560447"/>
            <a:ext cx="9007475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859790" algn="l"/>
                <a:tab pos="6068060" algn="l"/>
                <a:tab pos="7275195" algn="l"/>
              </a:tabLst>
            </a:pPr>
            <a:r>
              <a:rPr sz="2800" spc="-20" dirty="0">
                <a:latin typeface="Aptos"/>
                <a:cs typeface="Aptos"/>
              </a:rPr>
              <a:t>Step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Aptos"/>
                <a:cs typeface="Aptos"/>
              </a:rPr>
              <a:t>2: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Reduce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dimensions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to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2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using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PCA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Aptos"/>
                <a:cs typeface="Aptos"/>
              </a:rPr>
              <a:t>('knn',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KNeighborsClassifier(n_neighbors=5,))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Aptos"/>
                <a:cs typeface="Aptos"/>
              </a:rPr>
              <a:t>#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Step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3: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Aptos"/>
                <a:cs typeface="Aptos"/>
              </a:rPr>
              <a:t>K-</a:t>
            </a:r>
            <a:r>
              <a:rPr sz="2800" spc="-10" dirty="0">
                <a:latin typeface="Aptos"/>
                <a:cs typeface="Aptos"/>
              </a:rPr>
              <a:t>Nearest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Neighbors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classifier])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68402"/>
            <a:ext cx="9694545" cy="17322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/>
              <a:t>Split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30" dirty="0"/>
              <a:t>data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30" dirty="0"/>
              <a:t>X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20" dirty="0"/>
              <a:t>and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30" dirty="0"/>
              <a:t>Y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5" dirty="0"/>
              <a:t>into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35" dirty="0"/>
              <a:t>training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0" dirty="0"/>
              <a:t>and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30" dirty="0"/>
              <a:t>test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10" dirty="0"/>
              <a:t>data.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20" dirty="0"/>
              <a:t>Set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35" dirty="0"/>
              <a:t>parameter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35" dirty="0"/>
              <a:t>test_size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40" dirty="0"/>
              <a:t>to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0.2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5" dirty="0"/>
              <a:t>and</a:t>
            </a:r>
            <a:r>
              <a:rPr sz="4000" spc="-25" dirty="0">
                <a:latin typeface="Times New Roman"/>
                <a:cs typeface="Times New Roman"/>
              </a:rPr>
              <a:t> </a:t>
            </a:r>
            <a:r>
              <a:rPr sz="4000" spc="-45" dirty="0"/>
              <a:t>random_state</a:t>
            </a:r>
            <a:r>
              <a:rPr sz="4000" spc="-160" dirty="0">
                <a:latin typeface="Times New Roman"/>
                <a:cs typeface="Times New Roman"/>
              </a:rPr>
              <a:t> </a:t>
            </a:r>
            <a:r>
              <a:rPr sz="4000" spc="-40" dirty="0"/>
              <a:t>to</a:t>
            </a:r>
            <a:r>
              <a:rPr sz="4000" spc="-190" dirty="0">
                <a:latin typeface="Times New Roman"/>
                <a:cs typeface="Times New Roman"/>
              </a:rPr>
              <a:t> </a:t>
            </a:r>
            <a:r>
              <a:rPr sz="4000" spc="-50" dirty="0"/>
              <a:t>2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77273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Aptos"/>
                <a:cs typeface="Aptos"/>
              </a:rPr>
              <a:t>X_train,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X_test,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y_train,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y_test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=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train_test_split(...,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Aptos"/>
                <a:cs typeface="Aptos"/>
              </a:rPr>
              <a:t>...,</a:t>
            </a:r>
            <a:endParaRPr sz="26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538" y="2014171"/>
            <a:ext cx="84899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0" dirty="0">
                <a:latin typeface="Aptos"/>
                <a:cs typeface="Aptos"/>
              </a:rPr>
              <a:t>test_size=0.2,stratify=,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Aptos"/>
                <a:cs typeface="Aptos"/>
              </a:rPr>
              <a:t>random_state=2)numeric_features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Aptos"/>
                <a:cs typeface="Aptos"/>
              </a:rPr>
              <a:t>=</a:t>
            </a:r>
            <a:endParaRPr sz="260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7" y="2292224"/>
            <a:ext cx="99745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0" dirty="0">
                <a:latin typeface="Aptos"/>
                <a:cs typeface="Aptos"/>
              </a:rPr>
              <a:t>X_train.select_dtypes(include=['...']).column.tolist()categorical_feature</a:t>
            </a:r>
            <a:endParaRPr sz="26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9" y="2569589"/>
            <a:ext cx="101092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ptos"/>
                <a:cs typeface="Aptos"/>
              </a:rPr>
              <a:t>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=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Aptos"/>
                <a:cs typeface="Aptos"/>
              </a:rPr>
              <a:t>X_train.select_dtypes(include=['...','category']).column.tolist()#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Scale</a:t>
            </a:r>
            <a:endParaRPr sz="2600">
              <a:latin typeface="Aptos"/>
              <a:cs typeface="Apto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5539" y="2846960"/>
            <a:ext cx="97840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ptos"/>
                <a:cs typeface="Aptos"/>
              </a:rPr>
              <a:t>the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numeric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featuresnumeric_transformer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=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Pipeline(steps=[('scaler',</a:t>
            </a:r>
            <a:endParaRPr sz="2600">
              <a:latin typeface="Aptos"/>
              <a:cs typeface="Apto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539" y="3124325"/>
            <a:ext cx="58185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Aptos"/>
                <a:cs typeface="Aptos"/>
              </a:rPr>
              <a:t>StandardScaler())])#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One-hot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encode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ptos"/>
                <a:cs typeface="Aptos"/>
              </a:rPr>
              <a:t>the</a:t>
            </a:r>
            <a:endParaRPr sz="2600">
              <a:latin typeface="Aptos"/>
              <a:cs typeface="Apto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539" y="3401386"/>
            <a:ext cx="894461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Aptos"/>
                <a:cs typeface="Aptos"/>
              </a:rPr>
              <a:t>categorialscategorical_transformer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=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Pipeline(steps=[('onehot',</a:t>
            </a:r>
            <a:endParaRPr sz="2600">
              <a:latin typeface="Aptos"/>
              <a:cs typeface="Apt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9" y="3679315"/>
            <a:ext cx="86277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Aptos"/>
                <a:cs typeface="Aptos"/>
              </a:rPr>
              <a:t>OneHotEncoder(handle_unknown='ignore'))])preprocessor</a:t>
            </a:r>
            <a:r>
              <a:rPr sz="2600" spc="254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Aptos"/>
                <a:cs typeface="Aptos"/>
              </a:rPr>
              <a:t>=</a:t>
            </a:r>
            <a:endParaRPr sz="2600">
              <a:latin typeface="Aptos"/>
              <a:cs typeface="Apto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539" y="3956681"/>
            <a:ext cx="48450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9855" algn="l"/>
              </a:tabLst>
            </a:pPr>
            <a:r>
              <a:rPr sz="2600" spc="-10" dirty="0">
                <a:latin typeface="Aptos"/>
                <a:cs typeface="Aptos"/>
              </a:rPr>
              <a:t>CloumnTransfer(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Aptos"/>
                <a:cs typeface="Aptos"/>
              </a:rPr>
              <a:t>transformers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ptos"/>
                <a:cs typeface="Aptos"/>
              </a:rPr>
              <a:t>=[</a:t>
            </a:r>
            <a:endParaRPr sz="2600">
              <a:latin typeface="Aptos"/>
              <a:cs typeface="Apto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96359" y="3956681"/>
            <a:ext cx="459676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Aptos"/>
                <a:cs typeface="Aptos"/>
              </a:rPr>
              <a:t>('num',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numeric_transformer,...),</a:t>
            </a:r>
            <a:endParaRPr sz="2600">
              <a:latin typeface="Aptos"/>
              <a:cs typeface="Apt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5539" y="4234046"/>
            <a:ext cx="91224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3635" algn="l"/>
                <a:tab pos="5346700" algn="l"/>
              </a:tabLst>
            </a:pPr>
            <a:r>
              <a:rPr sz="2600" spc="-60" dirty="0">
                <a:latin typeface="Aptos"/>
                <a:cs typeface="Aptos"/>
              </a:rPr>
              <a:t>('cat',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categorical_transformer,...)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Aptos"/>
                <a:cs typeface="Aptos"/>
              </a:rPr>
              <a:t>])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Aptos"/>
                <a:cs typeface="Aptos"/>
              </a:rPr>
              <a:t>pipeline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=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Pipeline(steps=[</a:t>
            </a:r>
            <a:endParaRPr sz="2600">
              <a:latin typeface="Aptos"/>
              <a:cs typeface="Apto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5539" y="4511412"/>
            <a:ext cx="94367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7655" algn="l"/>
              </a:tabLst>
            </a:pPr>
            <a:r>
              <a:rPr sz="2600" spc="-30" dirty="0">
                <a:latin typeface="Aptos"/>
                <a:cs typeface="Aptos"/>
              </a:rPr>
              <a:t>('prerocessor',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...),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0" dirty="0">
                <a:latin typeface="Aptos"/>
                <a:cs typeface="Aptos"/>
              </a:rPr>
              <a:t>('...',RandomforestClassifier(rando_state=42))])</a:t>
            </a:r>
            <a:endParaRPr sz="2600">
              <a:latin typeface="Aptos"/>
              <a:cs typeface="Apto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5539" y="4788477"/>
            <a:ext cx="72434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96160" algn="l"/>
              </a:tabLst>
            </a:pPr>
            <a:r>
              <a:rPr sz="2600" spc="-10" dirty="0">
                <a:latin typeface="Aptos"/>
                <a:cs typeface="Aptos"/>
              </a:rPr>
              <a:t>param_grid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ptos"/>
                <a:cs typeface="Aptos"/>
              </a:rPr>
              <a:t>=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Aptos"/>
                <a:cs typeface="Aptos"/>
              </a:rPr>
              <a:t>{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Aptos"/>
                <a:cs typeface="Aptos"/>
              </a:rPr>
              <a:t>'classifier_n_estimators':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[50,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100],</a:t>
            </a:r>
            <a:endParaRPr sz="2600">
              <a:latin typeface="Aptos"/>
              <a:cs typeface="Apto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539" y="5066530"/>
            <a:ext cx="100082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7370" algn="l"/>
              </a:tabLst>
            </a:pPr>
            <a:r>
              <a:rPr sz="2600" spc="-10" dirty="0">
                <a:latin typeface="Aptos"/>
                <a:cs typeface="Aptos"/>
              </a:rPr>
              <a:t>'classifier_max_depth':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Aptos"/>
                <a:cs typeface="Aptos"/>
              </a:rPr>
              <a:t>[None,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ptos"/>
                <a:cs typeface="Aptos"/>
              </a:rPr>
              <a:t>10,20],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Aptos"/>
                <a:cs typeface="Aptos"/>
              </a:rPr>
              <a:t>'classifier_min_samples_split':</a:t>
            </a:r>
            <a:endParaRPr sz="2600">
              <a:latin typeface="Aptos"/>
              <a:cs typeface="Apto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5539" y="5343846"/>
            <a:ext cx="8312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ptos"/>
                <a:cs typeface="Aptos"/>
              </a:rPr>
              <a:t>[2,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ptos"/>
                <a:cs typeface="Aptos"/>
              </a:rPr>
              <a:t>5]}</a:t>
            </a:r>
            <a:endParaRPr sz="26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5" dirty="0"/>
              <a:t>Create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logistic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10" dirty="0"/>
              <a:t>Regression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Object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20" dirty="0"/>
              <a:t>then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30" dirty="0"/>
              <a:t>Create</a:t>
            </a:r>
            <a:r>
              <a:rPr spc="-210" dirty="0">
                <a:latin typeface="Times New Roman"/>
                <a:cs typeface="Times New Roman"/>
              </a:rPr>
              <a:t> </a:t>
            </a:r>
            <a:r>
              <a:rPr spc="-20" dirty="0"/>
              <a:t>GridSearchCV</a:t>
            </a:r>
            <a:r>
              <a:rPr spc="-190" dirty="0">
                <a:latin typeface="Times New Roman"/>
                <a:cs typeface="Times New Roman"/>
              </a:rPr>
              <a:t> </a:t>
            </a:r>
            <a:r>
              <a:rPr spc="-10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71"/>
            <a:ext cx="5003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Aptos"/>
                <a:cs typeface="Aptos"/>
              </a:rPr>
              <a:t>parameters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{'C':[0.01,0.01,1],</a:t>
            </a:r>
            <a:endParaRPr sz="28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216930"/>
            <a:ext cx="14986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4153" y="2216930"/>
            <a:ext cx="241109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Aptos"/>
                <a:cs typeface="Aptos"/>
              </a:rPr>
              <a:t>'penalty':['12'],</a:t>
            </a:r>
            <a:endParaRPr sz="28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ptos"/>
                <a:cs typeface="Aptos"/>
              </a:rPr>
              <a:t>'solver':['lbfgs’]}</a:t>
            </a:r>
            <a:endParaRPr sz="28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8" y="3325191"/>
            <a:ext cx="10287635" cy="27539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Aptos"/>
                <a:cs typeface="Aptos"/>
              </a:rPr>
              <a:t>parameters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{"C":[0.01,0.1,1],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'penalty':['12'],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ptos"/>
                <a:cs typeface="Aptos"/>
              </a:rPr>
              <a:t>'solver':['lbfgs']}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#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l1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lasso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l2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ridge</a:t>
            </a:r>
            <a:endParaRPr sz="2800">
              <a:latin typeface="Aptos"/>
              <a:cs typeface="Aptos"/>
            </a:endParaRPr>
          </a:p>
          <a:p>
            <a:pPr marL="241300" marR="2040889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Aptos"/>
                <a:cs typeface="Aptos"/>
              </a:rPr>
              <a:t>lr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LogisticRegression()logreg_cv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GridSearchCV(lr,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param_grid=parameters,scoring='accuracy’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5" dirty="0">
                <a:latin typeface="Aptos"/>
                <a:cs typeface="Aptos"/>
              </a:rPr>
              <a:t>)logreg_cv.fit(X_train,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y_train)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logreg_cv.best_params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Display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best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5" dirty="0"/>
              <a:t>parameters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on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10" dirty="0"/>
              <a:t>validation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data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25" dirty="0"/>
              <a:t>accuracy</a:t>
            </a:r>
            <a:r>
              <a:rPr spc="-290" dirty="0">
                <a:latin typeface="Times New Roman"/>
                <a:cs typeface="Times New Roman"/>
              </a:rPr>
              <a:t> </a:t>
            </a:r>
            <a:r>
              <a:rPr dirty="0"/>
              <a:t>on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validation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7" y="1707164"/>
            <a:ext cx="6752590" cy="25806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best_model.fit(x_train,y_train)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test_score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best_model.score(...,...)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print(f"{testscore:test_score:.3f}")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test_score=best_model.score(x_test,ytest)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print(f"{testcore:test_score:.3f}")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Calculate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25" dirty="0"/>
              <a:t>Accuracy</a:t>
            </a:r>
            <a:r>
              <a:rPr spc="-295" dirty="0">
                <a:latin typeface="Times New Roman"/>
                <a:cs typeface="Times New Roman"/>
              </a:rPr>
              <a:t> </a:t>
            </a:r>
            <a:r>
              <a:rPr dirty="0"/>
              <a:t>on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20" dirty="0"/>
              <a:t>test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10" dirty="0"/>
              <a:t>data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using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method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10" dirty="0"/>
              <a:t>score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64"/>
            <a:ext cx="9441180" cy="19437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Aptos"/>
                <a:cs typeface="Aptos"/>
              </a:rPr>
              <a:t>#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pipeline.fit(x_train,y_train_test)</a:t>
            </a:r>
            <a:endParaRPr sz="2800">
              <a:latin typeface="Aptos"/>
              <a:cs typeface="Aptos"/>
            </a:endParaRPr>
          </a:p>
          <a:p>
            <a:pPr marL="241300" marR="5080" indent="-228600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Aptos"/>
                <a:cs typeface="Aptos"/>
              </a:rPr>
              <a:t>#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measure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pipiline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ptos"/>
                <a:cs typeface="Aptos"/>
              </a:rPr>
              <a:t>accuracy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on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test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datatest_score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=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Aptos"/>
                <a:cs typeface="Aptos"/>
              </a:rPr>
              <a:t>'pipeline'.score(x_test,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y_test)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print(f"{test_score:3f}")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4631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Lets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look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30" dirty="0"/>
              <a:t>at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confusion</a:t>
            </a:r>
            <a:r>
              <a:rPr spc="-285" dirty="0">
                <a:latin typeface="Times New Roman"/>
                <a:cs typeface="Times New Roman"/>
              </a:rPr>
              <a:t> </a:t>
            </a:r>
            <a:r>
              <a:rPr spc="-10" dirty="0"/>
              <a:t>matrix: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66"/>
            <a:ext cx="5560060" cy="10477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yhat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logreg_cv.predict(X_test)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plot_confusion_matrix(Y_test,yhat)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40" dirty="0"/>
              <a:t>Create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dirty="0"/>
              <a:t>a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20" dirty="0"/>
              <a:t>support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35" dirty="0"/>
              <a:t>vector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machine</a:t>
            </a:r>
            <a:r>
              <a:rPr sz="4000" spc="-185" dirty="0">
                <a:latin typeface="Times New Roman"/>
                <a:cs typeface="Times New Roman"/>
              </a:rPr>
              <a:t> </a:t>
            </a:r>
            <a:r>
              <a:rPr sz="4000" spc="-20" dirty="0"/>
              <a:t>object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30" dirty="0"/>
              <a:t>&amp;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35" dirty="0"/>
              <a:t>Fit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25" dirty="0"/>
              <a:t>the</a:t>
            </a:r>
            <a:r>
              <a:rPr sz="4000" spc="-25" dirty="0">
                <a:latin typeface="Times New Roman"/>
                <a:cs typeface="Times New Roman"/>
              </a:rPr>
              <a:t> </a:t>
            </a:r>
            <a:r>
              <a:rPr sz="4000" spc="-20" dirty="0"/>
              <a:t>object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35" dirty="0"/>
              <a:t>to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0" dirty="0"/>
              <a:t>find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5" dirty="0"/>
              <a:t>best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40" dirty="0"/>
              <a:t>parameters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40" dirty="0"/>
              <a:t>from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5" dirty="0"/>
              <a:t>the</a:t>
            </a:r>
            <a:r>
              <a:rPr sz="4000" spc="-25" dirty="0">
                <a:latin typeface="Times New Roman"/>
                <a:cs typeface="Times New Roman"/>
              </a:rPr>
              <a:t> </a:t>
            </a:r>
            <a:r>
              <a:rPr sz="4000" spc="-10" dirty="0"/>
              <a:t>dictionary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1971"/>
            <a:ext cx="649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latin typeface="Aptos"/>
                <a:cs typeface="Aptos"/>
              </a:rPr>
              <a:t>parameters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{'criterion':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Aptos"/>
                <a:cs typeface="Aptos"/>
              </a:rPr>
              <a:t>['gini',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'entropy'],</a:t>
            </a:r>
            <a:endParaRPr sz="28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216930"/>
            <a:ext cx="149860" cy="25831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8395" y="2216930"/>
            <a:ext cx="5828030" cy="2583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5"/>
              </a:spcBef>
            </a:pPr>
            <a:r>
              <a:rPr sz="2800" spc="-20" dirty="0">
                <a:latin typeface="Aptos"/>
                <a:cs typeface="Aptos"/>
              </a:rPr>
              <a:t>'splitter':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Aptos"/>
                <a:cs typeface="Aptos"/>
              </a:rPr>
              <a:t>['best',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'random'],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'max_depth':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[2*n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for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n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in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range(1,10)],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ptos"/>
                <a:cs typeface="Aptos"/>
              </a:rPr>
              <a:t>'max_features':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Aptos"/>
                <a:cs typeface="Aptos"/>
              </a:rPr>
              <a:t>['auto',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'sqrt'],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'min_samples_leaf':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[1,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2,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4],</a:t>
            </a:r>
            <a:endParaRPr sz="2800">
              <a:latin typeface="Aptos"/>
              <a:cs typeface="Aptos"/>
            </a:endParaRPr>
          </a:p>
          <a:p>
            <a:pPr marL="85725">
              <a:lnSpc>
                <a:spcPct val="100000"/>
              </a:lnSpc>
              <a:spcBef>
                <a:spcPts val="675"/>
              </a:spcBef>
            </a:pPr>
            <a:r>
              <a:rPr sz="2800" spc="-20" dirty="0">
                <a:latin typeface="Aptos"/>
                <a:cs typeface="Aptos"/>
              </a:rPr>
              <a:t>'min_samples_split':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[2,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5,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10]}</a:t>
            </a:r>
            <a:endParaRPr sz="28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859273"/>
            <a:ext cx="5351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tree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ptos"/>
                <a:cs typeface="Aptos"/>
              </a:rPr>
              <a:t>'DecisionTreeClassifier'&gt;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[()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Calculate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25" dirty="0"/>
              <a:t>Accuracy</a:t>
            </a:r>
            <a:r>
              <a:rPr spc="-295" dirty="0">
                <a:latin typeface="Times New Roman"/>
                <a:cs typeface="Times New Roman"/>
              </a:rPr>
              <a:t> </a:t>
            </a:r>
            <a:r>
              <a:rPr dirty="0"/>
              <a:t>on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20" dirty="0"/>
              <a:t>test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10" dirty="0"/>
              <a:t>data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using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method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10" dirty="0"/>
              <a:t>score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7" y="1731371"/>
            <a:ext cx="7893684" cy="41732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y_pred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=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best_model.predict(X_test)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Aptos"/>
                <a:cs typeface="Aptos"/>
              </a:rPr>
              <a:t>#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Generate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confusion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matrix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for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ptos"/>
                <a:cs typeface="Aptos"/>
              </a:rPr>
              <a:t>KNN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Conf_matrix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=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confusion_matrix(y_test,y_pred)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Aptos"/>
                <a:cs typeface="Aptos"/>
              </a:rPr>
              <a:t>#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Create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single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plot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for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the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confusion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matrix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plt.figure()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sns.heatmap(conf_matrix,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ptos"/>
                <a:cs typeface="Aptos"/>
              </a:rPr>
              <a:t>annote=True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ptos"/>
                <a:cs typeface="Aptos"/>
              </a:rPr>
              <a:t>,cmap='Blues',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fmt='d',</a:t>
            </a:r>
            <a:endParaRPr sz="1800">
              <a:latin typeface="Aptos"/>
              <a:cs typeface="Aptos"/>
            </a:endParaRPr>
          </a:p>
          <a:p>
            <a:pPr marL="1576070" indent="-156400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1576070" algn="l"/>
                <a:tab pos="1576705" algn="l"/>
              </a:tabLst>
            </a:pPr>
            <a:r>
              <a:rPr sz="1800" spc="-10" dirty="0">
                <a:latin typeface="Aptos"/>
                <a:cs typeface="Aptos"/>
              </a:rPr>
              <a:t>xticklabels=labes,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yticklabels=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labels)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Aptos"/>
                <a:cs typeface="Aptos"/>
              </a:rPr>
              <a:t>#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set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the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title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labels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plt.title('KNN</a:t>
            </a:r>
            <a:r>
              <a:rPr sz="1800" spc="-5" dirty="0">
                <a:latin typeface="Aptos"/>
                <a:cs typeface="Aptos"/>
              </a:rPr>
              <a:t> </a:t>
            </a:r>
            <a:r>
              <a:rPr sz="1800" dirty="0">
                <a:latin typeface="Aptos"/>
                <a:cs typeface="Aptos"/>
              </a:rPr>
              <a:t>Classification</a:t>
            </a:r>
            <a:r>
              <a:rPr sz="1800" spc="-30" dirty="0">
                <a:latin typeface="Aptos"/>
                <a:cs typeface="Aptos"/>
              </a:rPr>
              <a:t> </a:t>
            </a:r>
            <a:r>
              <a:rPr sz="1800" spc="-20" dirty="0">
                <a:latin typeface="Aptos"/>
                <a:cs typeface="Aptos"/>
              </a:rPr>
              <a:t>Testing</a:t>
            </a:r>
            <a:r>
              <a:rPr sz="1800" spc="-10" dirty="0">
                <a:latin typeface="Aptos"/>
                <a:cs typeface="Aptos"/>
              </a:rPr>
              <a:t> </a:t>
            </a:r>
            <a:r>
              <a:rPr sz="1800" dirty="0">
                <a:latin typeface="Aptos"/>
                <a:cs typeface="Aptos"/>
              </a:rPr>
              <a:t>Confusion</a:t>
            </a:r>
            <a:r>
              <a:rPr sz="1800" spc="-15" dirty="0">
                <a:latin typeface="Aptos"/>
                <a:cs typeface="Aptos"/>
              </a:rPr>
              <a:t> </a:t>
            </a:r>
            <a:r>
              <a:rPr sz="1800" spc="-10" dirty="0">
                <a:latin typeface="Aptos"/>
                <a:cs typeface="Aptos"/>
              </a:rPr>
              <a:t>Matrix’)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plt.xlabel('Predicted’)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plt.ylabel('Actual’)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Aptos"/>
                <a:cs typeface="Aptos"/>
              </a:rPr>
              <a:t>#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Show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the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ptos"/>
                <a:cs typeface="Aptos"/>
              </a:rPr>
              <a:t>plot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plt.tight_layout()</a:t>
            </a:r>
            <a:endParaRPr sz="1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Aptos"/>
                <a:cs typeface="Aptos"/>
              </a:rPr>
              <a:t>plt.show()</a:t>
            </a:r>
            <a:endParaRPr sz="1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56222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Plot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confusion</a:t>
            </a:r>
            <a:r>
              <a:rPr spc="-285" dirty="0">
                <a:latin typeface="Times New Roman"/>
                <a:cs typeface="Times New Roman"/>
              </a:rPr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66"/>
            <a:ext cx="5560060" cy="10477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Aptos"/>
                <a:cs typeface="Aptos"/>
              </a:rPr>
              <a:t>yhat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'knn_cv'.predict(X_test)</a:t>
            </a:r>
            <a:endParaRPr sz="2800">
              <a:latin typeface="Aptos"/>
              <a:cs typeface="Aptos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Aptos"/>
                <a:cs typeface="Aptos"/>
              </a:rPr>
              <a:t>plot_confusion_matrix(Y_test,yhat)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1234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Find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methods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that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spc="-10" dirty="0"/>
              <a:t>perform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20" dirty="0"/>
              <a:t>best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73"/>
            <a:ext cx="984059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Aptos"/>
                <a:cs typeface="Aptos"/>
              </a:rPr>
              <a:t>#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Print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test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scoretest_score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=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model.best_estimator_.score((x_test),(y_test))print(f"n\Test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set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accuracy:{test:.2%}")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0" y="892809"/>
            <a:ext cx="5617845" cy="708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ptos"/>
                <a:cs typeface="Aptos"/>
              </a:rPr>
              <a:t>def </a:t>
            </a:r>
            <a:r>
              <a:rPr sz="1200" spc="-10" dirty="0">
                <a:latin typeface="Aptos"/>
                <a:cs typeface="Aptos"/>
              </a:rPr>
              <a:t>date_time(table_cells):</a:t>
            </a:r>
            <a:endParaRPr sz="1200">
              <a:latin typeface="Aptos"/>
              <a:cs typeface="Aptos"/>
            </a:endParaRPr>
          </a:p>
          <a:p>
            <a:pPr marL="134620">
              <a:lnSpc>
                <a:spcPct val="100000"/>
              </a:lnSpc>
              <a:spcBef>
                <a:spcPts val="105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34620" marR="1288415">
              <a:lnSpc>
                <a:spcPct val="173300"/>
              </a:lnSpc>
            </a:pPr>
            <a:r>
              <a:rPr sz="1200" dirty="0">
                <a:latin typeface="Aptos"/>
                <a:cs typeface="Aptos"/>
              </a:rPr>
              <a:t>This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function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returns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data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and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time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from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HTML</a:t>
            </a:r>
            <a:r>
              <a:rPr sz="1200" spc="20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20" dirty="0">
                <a:latin typeface="Aptos"/>
                <a:cs typeface="Aptos"/>
              </a:rPr>
              <a:t>cell </a:t>
            </a:r>
            <a:r>
              <a:rPr sz="1200" dirty="0">
                <a:latin typeface="Aptos"/>
                <a:cs typeface="Aptos"/>
              </a:rPr>
              <a:t>Input: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2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element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of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a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data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cell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extracts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row</a:t>
            </a:r>
            <a:endParaRPr sz="1200">
              <a:latin typeface="Aptos"/>
              <a:cs typeface="Aptos"/>
            </a:endParaRPr>
          </a:p>
          <a:p>
            <a:pPr marL="134620">
              <a:lnSpc>
                <a:spcPct val="100000"/>
              </a:lnSpc>
              <a:spcBef>
                <a:spcPts val="105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34620">
              <a:lnSpc>
                <a:spcPct val="100000"/>
              </a:lnSpc>
              <a:spcBef>
                <a:spcPts val="1055"/>
              </a:spcBef>
            </a:pPr>
            <a:r>
              <a:rPr sz="1200" dirty="0">
                <a:latin typeface="Aptos"/>
                <a:cs typeface="Aptos"/>
              </a:rPr>
              <a:t>return</a:t>
            </a:r>
            <a:r>
              <a:rPr sz="1200" spc="-10" dirty="0">
                <a:latin typeface="Aptos"/>
                <a:cs typeface="Aptos"/>
              </a:rPr>
              <a:t> [data_time.strip() </a:t>
            </a:r>
            <a:r>
              <a:rPr sz="1200" dirty="0">
                <a:latin typeface="Aptos"/>
                <a:cs typeface="Aptos"/>
              </a:rPr>
              <a:t>for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data_time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in </a:t>
            </a:r>
            <a:r>
              <a:rPr sz="1200" spc="-10" dirty="0">
                <a:latin typeface="Aptos"/>
                <a:cs typeface="Aptos"/>
              </a:rPr>
              <a:t>list(table_cells.strings)][0:2]</a:t>
            </a:r>
            <a:endParaRPr sz="1200">
              <a:latin typeface="Aptos"/>
              <a:cs typeface="Aptos"/>
            </a:endParaRPr>
          </a:p>
          <a:p>
            <a:pPr>
              <a:lnSpc>
                <a:spcPct val="100000"/>
              </a:lnSpc>
            </a:pPr>
            <a:endParaRPr sz="14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ptos"/>
                <a:cs typeface="Aptos"/>
              </a:rPr>
              <a:t>def </a:t>
            </a:r>
            <a:r>
              <a:rPr sz="1200" spc="-10" dirty="0">
                <a:latin typeface="Aptos"/>
                <a:cs typeface="Aptos"/>
              </a:rPr>
              <a:t>booster_version(table_cells):</a:t>
            </a:r>
            <a:endParaRPr sz="1200">
              <a:latin typeface="Aptos"/>
              <a:cs typeface="Aptos"/>
            </a:endParaRPr>
          </a:p>
          <a:p>
            <a:pPr marL="134620">
              <a:lnSpc>
                <a:spcPct val="100000"/>
              </a:lnSpc>
              <a:spcBef>
                <a:spcPts val="106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34620" marR="1177290">
              <a:lnSpc>
                <a:spcPct val="173300"/>
              </a:lnSpc>
              <a:spcBef>
                <a:spcPts val="5"/>
              </a:spcBef>
            </a:pPr>
            <a:r>
              <a:rPr sz="1200" dirty="0">
                <a:latin typeface="Aptos"/>
                <a:cs typeface="Aptos"/>
              </a:rPr>
              <a:t>This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function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returns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booster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version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from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HTML</a:t>
            </a:r>
            <a:r>
              <a:rPr sz="1200" spc="20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spc="-20" dirty="0">
                <a:latin typeface="Aptos"/>
                <a:cs typeface="Aptos"/>
              </a:rPr>
              <a:t>cell </a:t>
            </a:r>
            <a:r>
              <a:rPr sz="1200" dirty="0">
                <a:latin typeface="Aptos"/>
                <a:cs typeface="Aptos"/>
              </a:rPr>
              <a:t>Input: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2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element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of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a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data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cell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extracts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row</a:t>
            </a:r>
            <a:endParaRPr sz="1200">
              <a:latin typeface="Aptos"/>
              <a:cs typeface="Aptos"/>
            </a:endParaRPr>
          </a:p>
          <a:p>
            <a:pPr marL="134620">
              <a:lnSpc>
                <a:spcPct val="100000"/>
              </a:lnSpc>
              <a:spcBef>
                <a:spcPts val="105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2700" marR="5080" indent="121920">
              <a:lnSpc>
                <a:spcPct val="117500"/>
              </a:lnSpc>
              <a:spcBef>
                <a:spcPts val="805"/>
              </a:spcBef>
            </a:pPr>
            <a:r>
              <a:rPr sz="1200" spc="-10" dirty="0">
                <a:latin typeface="Aptos"/>
                <a:cs typeface="Aptos"/>
              </a:rPr>
              <a:t>out=''.join([booster_version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for</a:t>
            </a:r>
            <a:r>
              <a:rPr sz="1200" spc="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i,booster_version</a:t>
            </a:r>
            <a:r>
              <a:rPr sz="1200" spc="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in</a:t>
            </a:r>
            <a:r>
              <a:rPr sz="1200" spc="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enumerate(</a:t>
            </a:r>
            <a:r>
              <a:rPr sz="1200" spc="1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table_cells.strings)</a:t>
            </a:r>
            <a:r>
              <a:rPr sz="1200" spc="15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if </a:t>
            </a:r>
            <a:r>
              <a:rPr sz="1200" spc="-10" dirty="0">
                <a:latin typeface="Aptos"/>
                <a:cs typeface="Aptos"/>
              </a:rPr>
              <a:t>i%2==0][0:-</a:t>
            </a:r>
            <a:r>
              <a:rPr sz="1200" spc="-25" dirty="0">
                <a:latin typeface="Aptos"/>
                <a:cs typeface="Aptos"/>
              </a:rPr>
              <a:t>1])</a:t>
            </a:r>
            <a:endParaRPr sz="1200">
              <a:latin typeface="Aptos"/>
              <a:cs typeface="Aptos"/>
            </a:endParaRPr>
          </a:p>
          <a:p>
            <a:pPr marL="134620">
              <a:lnSpc>
                <a:spcPct val="100000"/>
              </a:lnSpc>
              <a:spcBef>
                <a:spcPts val="1055"/>
              </a:spcBef>
            </a:pPr>
            <a:r>
              <a:rPr sz="1200" dirty="0">
                <a:latin typeface="Aptos"/>
                <a:cs typeface="Aptos"/>
              </a:rPr>
              <a:t>return</a:t>
            </a:r>
            <a:r>
              <a:rPr sz="1200" spc="-40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out</a:t>
            </a:r>
            <a:endParaRPr sz="1200">
              <a:latin typeface="Aptos"/>
              <a:cs typeface="Aptos"/>
            </a:endParaRPr>
          </a:p>
          <a:p>
            <a:pPr>
              <a:lnSpc>
                <a:spcPct val="100000"/>
              </a:lnSpc>
            </a:pPr>
            <a:endParaRPr sz="14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ptos"/>
                <a:cs typeface="Aptos"/>
              </a:rPr>
              <a:t>def </a:t>
            </a:r>
            <a:r>
              <a:rPr sz="1200" spc="-10" dirty="0">
                <a:latin typeface="Aptos"/>
                <a:cs typeface="Aptos"/>
              </a:rPr>
              <a:t>landing_status(table_cells):</a:t>
            </a:r>
            <a:endParaRPr sz="1200">
              <a:latin typeface="Aptos"/>
              <a:cs typeface="Aptos"/>
            </a:endParaRPr>
          </a:p>
          <a:p>
            <a:pPr marL="133985">
              <a:lnSpc>
                <a:spcPct val="100000"/>
              </a:lnSpc>
              <a:spcBef>
                <a:spcPts val="105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33985" marR="1296670">
              <a:lnSpc>
                <a:spcPts val="2510"/>
              </a:lnSpc>
              <a:spcBef>
                <a:spcPts val="250"/>
              </a:spcBef>
            </a:pPr>
            <a:r>
              <a:rPr sz="1200" dirty="0">
                <a:latin typeface="Aptos"/>
                <a:cs typeface="Aptos"/>
              </a:rPr>
              <a:t>This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function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returns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landing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status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from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HTML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20" dirty="0">
                <a:latin typeface="Aptos"/>
                <a:cs typeface="Aptos"/>
              </a:rPr>
              <a:t> cell </a:t>
            </a:r>
            <a:r>
              <a:rPr sz="1200" dirty="0">
                <a:latin typeface="Aptos"/>
                <a:cs typeface="Aptos"/>
              </a:rPr>
              <a:t>Input: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2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element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of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a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data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cell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extracts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row</a:t>
            </a:r>
            <a:endParaRPr sz="1200">
              <a:latin typeface="Aptos"/>
              <a:cs typeface="Aptos"/>
            </a:endParaRPr>
          </a:p>
          <a:p>
            <a:pPr marL="133985">
              <a:lnSpc>
                <a:spcPct val="100000"/>
              </a:lnSpc>
              <a:spcBef>
                <a:spcPts val="790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33985" marR="3223260">
              <a:lnSpc>
                <a:spcPct val="173300"/>
              </a:lnSpc>
              <a:spcBef>
                <a:spcPts val="5"/>
              </a:spcBef>
            </a:pPr>
            <a:r>
              <a:rPr sz="1200" dirty="0">
                <a:latin typeface="Aptos"/>
                <a:cs typeface="Aptos"/>
              </a:rPr>
              <a:t>out=[i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for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i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in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table_cells.strings][0] </a:t>
            </a:r>
            <a:r>
              <a:rPr sz="1200" dirty="0">
                <a:latin typeface="Aptos"/>
                <a:cs typeface="Aptos"/>
              </a:rPr>
              <a:t>return</a:t>
            </a:r>
            <a:r>
              <a:rPr sz="1200" spc="-40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out</a:t>
            </a:r>
            <a:endParaRPr sz="1200">
              <a:latin typeface="Aptos"/>
              <a:cs typeface="Apto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0" y="8719525"/>
            <a:ext cx="1747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ptos"/>
                <a:cs typeface="Aptos"/>
              </a:rPr>
              <a:t>def </a:t>
            </a:r>
            <a:r>
              <a:rPr sz="1200" spc="-10" dirty="0">
                <a:latin typeface="Aptos"/>
                <a:cs typeface="Aptos"/>
              </a:rPr>
              <a:t>get_mass(table_cells):</a:t>
            </a:r>
            <a:endParaRPr sz="1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3924" y="892809"/>
            <a:ext cx="4044950" cy="211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ptos"/>
                <a:cs typeface="Aptos"/>
              </a:rPr>
              <a:t>mass=unicodedata.normalize("NFKD",</a:t>
            </a:r>
            <a:r>
              <a:rPr sz="1200" spc="3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table_cells.text).strip()</a:t>
            </a:r>
            <a:endParaRPr sz="12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dirty="0">
                <a:latin typeface="Aptos"/>
                <a:cs typeface="Aptos"/>
              </a:rPr>
              <a:t>if</a:t>
            </a:r>
            <a:r>
              <a:rPr sz="1200" spc="1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mass:</a:t>
            </a:r>
            <a:endParaRPr sz="1200">
              <a:latin typeface="Aptos"/>
              <a:cs typeface="Aptos"/>
            </a:endParaRPr>
          </a:p>
          <a:p>
            <a:pPr marL="137160" marR="1388745">
              <a:lnSpc>
                <a:spcPct val="173300"/>
              </a:lnSpc>
            </a:pPr>
            <a:r>
              <a:rPr sz="1200" spc="-10" dirty="0">
                <a:latin typeface="Aptos"/>
                <a:cs typeface="Aptos"/>
              </a:rPr>
              <a:t>mass.find("kg") new_mass=mass[0:mass.find("kg")+2]</a:t>
            </a:r>
            <a:endParaRPr sz="12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200" spc="-10" dirty="0">
                <a:latin typeface="Aptos"/>
                <a:cs typeface="Aptos"/>
              </a:rPr>
              <a:t>else:</a:t>
            </a:r>
            <a:endParaRPr sz="1200">
              <a:latin typeface="Aptos"/>
              <a:cs typeface="Aptos"/>
            </a:endParaRPr>
          </a:p>
          <a:p>
            <a:pPr marL="12700" marR="2894330" indent="124460">
              <a:lnSpc>
                <a:spcPct val="173300"/>
              </a:lnSpc>
            </a:pPr>
            <a:r>
              <a:rPr sz="1200" spc="-10" dirty="0">
                <a:latin typeface="Aptos"/>
                <a:cs typeface="Aptos"/>
              </a:rPr>
              <a:t>new_mass=0 </a:t>
            </a:r>
            <a:r>
              <a:rPr sz="1200" dirty="0">
                <a:latin typeface="Aptos"/>
                <a:cs typeface="Aptos"/>
              </a:rPr>
              <a:t>return</a:t>
            </a:r>
            <a:r>
              <a:rPr sz="1200" spc="-3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new_mass</a:t>
            </a:r>
            <a:endParaRPr sz="1200">
              <a:latin typeface="Aptos"/>
              <a:cs typeface="Apto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6" y="3747644"/>
            <a:ext cx="4326255" cy="5282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ptos"/>
                <a:cs typeface="Aptos"/>
              </a:rPr>
              <a:t>def </a:t>
            </a:r>
            <a:r>
              <a:rPr sz="1200" spc="-10" dirty="0">
                <a:latin typeface="Aptos"/>
                <a:cs typeface="Aptos"/>
              </a:rPr>
              <a:t>extract_column_from_header(row):</a:t>
            </a:r>
            <a:endParaRPr sz="1200">
              <a:latin typeface="Aptos"/>
              <a:cs typeface="Aptos"/>
            </a:endParaRPr>
          </a:p>
          <a:p>
            <a:pPr marL="133985">
              <a:lnSpc>
                <a:spcPct val="100000"/>
              </a:lnSpc>
              <a:spcBef>
                <a:spcPts val="105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133985" marR="5080">
              <a:lnSpc>
                <a:spcPct val="173300"/>
              </a:lnSpc>
            </a:pPr>
            <a:r>
              <a:rPr sz="1200" dirty="0">
                <a:latin typeface="Aptos"/>
                <a:cs typeface="Aptos"/>
              </a:rPr>
              <a:t>This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function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returns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landing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status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from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HTML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20" dirty="0">
                <a:latin typeface="Aptos"/>
                <a:cs typeface="Aptos"/>
              </a:rPr>
              <a:t> cell </a:t>
            </a:r>
            <a:r>
              <a:rPr sz="1200" dirty="0">
                <a:latin typeface="Aptos"/>
                <a:cs typeface="Aptos"/>
              </a:rPr>
              <a:t>Input: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2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element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of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a</a:t>
            </a:r>
            <a:r>
              <a:rPr sz="1200" spc="-2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table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data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cell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extracts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extra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spc="-25" dirty="0">
                <a:latin typeface="Aptos"/>
                <a:cs typeface="Aptos"/>
              </a:rPr>
              <a:t>row</a:t>
            </a:r>
            <a:endParaRPr sz="1200">
              <a:latin typeface="Aptos"/>
              <a:cs typeface="Aptos"/>
            </a:endParaRPr>
          </a:p>
          <a:p>
            <a:pPr marL="133985">
              <a:lnSpc>
                <a:spcPct val="100000"/>
              </a:lnSpc>
              <a:spcBef>
                <a:spcPts val="1055"/>
              </a:spcBef>
            </a:pPr>
            <a:r>
              <a:rPr sz="1200" spc="-25" dirty="0">
                <a:latin typeface="Aptos"/>
                <a:cs typeface="Aptos"/>
              </a:rPr>
              <a:t>"""</a:t>
            </a:r>
            <a:endParaRPr sz="1200">
              <a:latin typeface="Aptos"/>
              <a:cs typeface="Aptos"/>
            </a:endParaRPr>
          </a:p>
          <a:p>
            <a:pPr marL="259079" marR="3078480" indent="-125095">
              <a:lnSpc>
                <a:spcPct val="173300"/>
              </a:lnSpc>
              <a:spcBef>
                <a:spcPts val="5"/>
              </a:spcBef>
            </a:pPr>
            <a:r>
              <a:rPr sz="1200" dirty="0">
                <a:latin typeface="Aptos"/>
                <a:cs typeface="Aptos"/>
              </a:rPr>
              <a:t>if</a:t>
            </a:r>
            <a:r>
              <a:rPr sz="1200" spc="1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(row.br): </a:t>
            </a:r>
            <a:r>
              <a:rPr sz="1200" spc="-25" dirty="0">
                <a:latin typeface="Aptos"/>
                <a:cs typeface="Aptos"/>
              </a:rPr>
              <a:t>row.br.extract()</a:t>
            </a:r>
            <a:endParaRPr sz="1200">
              <a:latin typeface="Aptos"/>
              <a:cs typeface="Aptos"/>
            </a:endParaRPr>
          </a:p>
          <a:p>
            <a:pPr marL="133985">
              <a:lnSpc>
                <a:spcPct val="100000"/>
              </a:lnSpc>
              <a:spcBef>
                <a:spcPts val="1055"/>
              </a:spcBef>
            </a:pPr>
            <a:r>
              <a:rPr sz="1200" dirty="0">
                <a:latin typeface="Aptos"/>
                <a:cs typeface="Aptos"/>
              </a:rPr>
              <a:t>if</a:t>
            </a:r>
            <a:r>
              <a:rPr sz="1200" spc="1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row.a:</a:t>
            </a:r>
            <a:endParaRPr sz="1200">
              <a:latin typeface="Aptos"/>
              <a:cs typeface="Aptos"/>
            </a:endParaRPr>
          </a:p>
          <a:p>
            <a:pPr marL="133985" marR="3122930" indent="124460">
              <a:lnSpc>
                <a:spcPct val="173300"/>
              </a:lnSpc>
            </a:pPr>
            <a:r>
              <a:rPr sz="1200" spc="-20" dirty="0">
                <a:latin typeface="Aptos"/>
                <a:cs typeface="Aptos"/>
              </a:rPr>
              <a:t>row.a.extract() </a:t>
            </a:r>
            <a:r>
              <a:rPr sz="1200" dirty="0">
                <a:latin typeface="Aptos"/>
                <a:cs typeface="Aptos"/>
              </a:rPr>
              <a:t>if</a:t>
            </a:r>
            <a:r>
              <a:rPr sz="1200" spc="1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row.sup:</a:t>
            </a:r>
            <a:endParaRPr sz="1200">
              <a:latin typeface="Aptos"/>
              <a:cs typeface="Aptos"/>
            </a:endParaRPr>
          </a:p>
          <a:p>
            <a:pPr marL="259079">
              <a:lnSpc>
                <a:spcPct val="100000"/>
              </a:lnSpc>
              <a:spcBef>
                <a:spcPts val="1055"/>
              </a:spcBef>
            </a:pPr>
            <a:r>
              <a:rPr sz="1200" spc="-10" dirty="0">
                <a:latin typeface="Aptos"/>
                <a:cs typeface="Aptos"/>
              </a:rPr>
              <a:t>row.sup.extract()</a:t>
            </a:r>
            <a:endParaRPr sz="1200">
              <a:latin typeface="Aptos"/>
              <a:cs typeface="Aptos"/>
            </a:endParaRPr>
          </a:p>
          <a:p>
            <a:pPr marL="134620" marR="1786255" indent="1270">
              <a:lnSpc>
                <a:spcPct val="346700"/>
              </a:lnSpc>
              <a:spcBef>
                <a:spcPts val="5"/>
              </a:spcBef>
            </a:pPr>
            <a:r>
              <a:rPr sz="1200" dirty="0">
                <a:latin typeface="Aptos"/>
                <a:cs typeface="Aptos"/>
              </a:rPr>
              <a:t>colunm_name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=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'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20" dirty="0">
                <a:latin typeface="Aptos"/>
                <a:cs typeface="Aptos"/>
              </a:rPr>
              <a:t>'.join(row.contents) </a:t>
            </a:r>
            <a:r>
              <a:rPr sz="1200" dirty="0">
                <a:latin typeface="Aptos"/>
                <a:cs typeface="Aptos"/>
              </a:rPr>
              <a:t>#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Filter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the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digit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and</a:t>
            </a:r>
            <a:r>
              <a:rPr sz="1200" spc="-10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empty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20" dirty="0">
                <a:latin typeface="Aptos"/>
                <a:cs typeface="Aptos"/>
              </a:rPr>
              <a:t>names</a:t>
            </a:r>
            <a:endParaRPr sz="1200">
              <a:latin typeface="Aptos"/>
              <a:cs typeface="Aptos"/>
            </a:endParaRPr>
          </a:p>
          <a:p>
            <a:pPr marL="259079" marR="1596390" indent="-125095">
              <a:lnSpc>
                <a:spcPct val="173300"/>
              </a:lnSpc>
              <a:spcBef>
                <a:spcPts val="10"/>
              </a:spcBef>
            </a:pPr>
            <a:r>
              <a:rPr sz="1200" dirty="0">
                <a:latin typeface="Aptos"/>
                <a:cs typeface="Aptos"/>
              </a:rPr>
              <a:t>if</a:t>
            </a:r>
            <a:r>
              <a:rPr sz="1200" spc="1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not(column_name.strip().isdigit()): </a:t>
            </a:r>
            <a:r>
              <a:rPr sz="1200" dirty="0">
                <a:latin typeface="Aptos"/>
                <a:cs typeface="Aptos"/>
              </a:rPr>
              <a:t>colunm_name</a:t>
            </a:r>
            <a:r>
              <a:rPr sz="1200" spc="-5" dirty="0">
                <a:latin typeface="Aptos"/>
                <a:cs typeface="Aptos"/>
              </a:rPr>
              <a:t> </a:t>
            </a:r>
            <a:r>
              <a:rPr sz="1200" dirty="0">
                <a:latin typeface="Aptos"/>
                <a:cs typeface="Aptos"/>
              </a:rPr>
              <a:t>=</a:t>
            </a:r>
            <a:r>
              <a:rPr sz="1200" spc="-15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colunm_name.strip()</a:t>
            </a:r>
            <a:endParaRPr sz="1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895" y="892809"/>
            <a:ext cx="1403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ptos"/>
                <a:cs typeface="Aptos"/>
              </a:rPr>
              <a:t>return</a:t>
            </a:r>
            <a:r>
              <a:rPr sz="1200" spc="-20" dirty="0">
                <a:latin typeface="Aptos"/>
                <a:cs typeface="Aptos"/>
              </a:rPr>
              <a:t> </a:t>
            </a:r>
            <a:r>
              <a:rPr sz="1200" spc="-10" dirty="0">
                <a:latin typeface="Aptos"/>
                <a:cs typeface="Aptos"/>
              </a:rPr>
              <a:t>colunm_name</a:t>
            </a:r>
            <a:endParaRPr sz="1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EDA</a:t>
            </a:r>
            <a:r>
              <a:rPr spc="-325" dirty="0">
                <a:latin typeface="Times New Roman"/>
                <a:cs typeface="Times New Roman"/>
              </a:rPr>
              <a:t> </a:t>
            </a:r>
            <a:r>
              <a:rPr spc="-25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6376" y="3578096"/>
            <a:ext cx="462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ptos"/>
                <a:cs typeface="Aptos"/>
              </a:rPr>
              <a:t>SQL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Notebook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for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ptos"/>
                <a:cs typeface="Aptos"/>
              </a:rPr>
              <a:t>Peer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Assignment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1407667"/>
            <a:ext cx="9506585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dirty="0"/>
              <a:t>ask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spc="-50" dirty="0"/>
              <a:t>1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5830"/>
              </a:lnSpc>
              <a:spcBef>
                <a:spcPts val="409"/>
              </a:spcBef>
            </a:pPr>
            <a:r>
              <a:rPr sz="5400" dirty="0"/>
              <a:t>Display</a:t>
            </a:r>
            <a:r>
              <a:rPr sz="5400" spc="-340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/>
              <a:t>names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dirty="0"/>
              <a:t>of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/>
              <a:t>unique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dirty="0"/>
              <a:t>launch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dirty="0"/>
              <a:t>sites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dirty="0"/>
              <a:t>in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/>
              <a:t>space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spc="-10" dirty="0"/>
              <a:t>mission</a:t>
            </a:r>
            <a:r>
              <a:rPr sz="54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710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CCAFS</a:t>
            </a:r>
            <a:r>
              <a:rPr sz="2400" spc="-1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767676"/>
                </a:solidFill>
                <a:latin typeface="Aptos"/>
                <a:cs typeface="Aptos"/>
              </a:rPr>
              <a:t>SLC-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40:</a:t>
            </a:r>
            <a:r>
              <a:rPr sz="2400" spc="-1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KSL</a:t>
            </a:r>
            <a:r>
              <a:rPr sz="2400" spc="-13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LC39:</a:t>
            </a:r>
            <a:r>
              <a:rPr sz="2400" spc="-114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767676"/>
                </a:solidFill>
                <a:latin typeface="Aptos"/>
                <a:cs typeface="Aptos"/>
              </a:rPr>
              <a:t>VAFB</a:t>
            </a:r>
            <a:r>
              <a:rPr sz="2400" spc="-13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767676"/>
                </a:solidFill>
                <a:latin typeface="Aptos"/>
                <a:cs typeface="Aptos"/>
              </a:rPr>
              <a:t>SLC-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4E:CCAFS</a:t>
            </a:r>
            <a:r>
              <a:rPr sz="2400" spc="-8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767676"/>
                </a:solidFill>
                <a:latin typeface="Aptos"/>
                <a:cs typeface="Aptos"/>
              </a:rPr>
              <a:t>LC-</a:t>
            </a:r>
            <a:r>
              <a:rPr sz="2400" spc="-25" dirty="0">
                <a:solidFill>
                  <a:srgbClr val="767676"/>
                </a:solidFill>
                <a:latin typeface="Aptos"/>
                <a:cs typeface="Aptos"/>
              </a:rPr>
              <a:t>40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1407667"/>
            <a:ext cx="10146665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50" dirty="0"/>
              <a:t>2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5830"/>
              </a:lnSpc>
              <a:spcBef>
                <a:spcPts val="409"/>
              </a:spcBef>
            </a:pPr>
            <a:r>
              <a:rPr sz="5400" dirty="0"/>
              <a:t>Display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/>
              <a:t>5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30" dirty="0"/>
              <a:t>records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20" dirty="0"/>
              <a:t>where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dirty="0"/>
              <a:t>launch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/>
              <a:t>sites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dirty="0"/>
              <a:t>begin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/>
              <a:t>with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10" dirty="0"/>
              <a:t>string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10" dirty="0"/>
              <a:t>'CCA'</a:t>
            </a:r>
            <a:r>
              <a:rPr sz="54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977900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LEO</a:t>
            </a:r>
            <a:r>
              <a:rPr sz="2400" spc="-12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(ISS),</a:t>
            </a:r>
            <a:r>
              <a:rPr sz="2400" spc="-1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767676"/>
                </a:solidFill>
                <a:latin typeface="Aptos"/>
                <a:cs typeface="Aptos"/>
              </a:rPr>
              <a:t>NASA(COTS),</a:t>
            </a:r>
            <a:r>
              <a:rPr sz="2400" spc="-114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NASA(CRS),</a:t>
            </a:r>
            <a:r>
              <a:rPr sz="2400" spc="-10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767676"/>
                </a:solidFill>
                <a:latin typeface="Aptos"/>
                <a:cs typeface="Aptos"/>
              </a:rPr>
              <a:t>Turkeminstan</a:t>
            </a:r>
            <a:r>
              <a:rPr sz="2400" spc="-14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National</a:t>
            </a:r>
            <a:r>
              <a:rPr sz="24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Space</a:t>
            </a:r>
            <a:r>
              <a:rPr sz="2400" spc="-10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Agency,</a:t>
            </a:r>
            <a:r>
              <a:rPr sz="2400" spc="-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AsiaSat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666445"/>
            <a:ext cx="8793480" cy="307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spc="-50" dirty="0"/>
              <a:t>3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5830"/>
              </a:lnSpc>
              <a:spcBef>
                <a:spcPts val="415"/>
              </a:spcBef>
            </a:pPr>
            <a:r>
              <a:rPr sz="5400" dirty="0"/>
              <a:t>Display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20" dirty="0"/>
              <a:t>total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/>
              <a:t>payload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spc="-20" dirty="0"/>
              <a:t>mass</a:t>
            </a:r>
            <a:r>
              <a:rPr sz="5400" spc="-20" dirty="0">
                <a:latin typeface="Times New Roman"/>
                <a:cs typeface="Times New Roman"/>
              </a:rPr>
              <a:t> </a:t>
            </a:r>
            <a:r>
              <a:rPr sz="5400" spc="-10" dirty="0"/>
              <a:t>carried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35" dirty="0"/>
              <a:t>by</a:t>
            </a:r>
            <a:r>
              <a:rPr sz="5400" spc="-285" dirty="0">
                <a:latin typeface="Times New Roman"/>
                <a:cs typeface="Times New Roman"/>
              </a:rPr>
              <a:t> </a:t>
            </a:r>
            <a:r>
              <a:rPr sz="5400" spc="-25" dirty="0"/>
              <a:t>boosters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dirty="0"/>
              <a:t>launched</a:t>
            </a:r>
            <a:r>
              <a:rPr sz="5400" spc="-285" dirty="0">
                <a:latin typeface="Times New Roman"/>
                <a:cs typeface="Times New Roman"/>
              </a:rPr>
              <a:t> </a:t>
            </a:r>
            <a:r>
              <a:rPr sz="5400" spc="-25" dirty="0"/>
              <a:t>by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dirty="0"/>
              <a:t>NASA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20" dirty="0"/>
              <a:t>(CRS)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926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44,903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1407667"/>
            <a:ext cx="9274810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25" dirty="0"/>
              <a:t>4</a:t>
            </a:r>
            <a:r>
              <a:rPr sz="5400" u="sng" spc="-25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5830"/>
              </a:lnSpc>
              <a:spcBef>
                <a:spcPts val="409"/>
              </a:spcBef>
            </a:pPr>
            <a:r>
              <a:rPr sz="5400" dirty="0"/>
              <a:t>Display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spc="-40" dirty="0"/>
              <a:t>average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/>
              <a:t>payload</a:t>
            </a:r>
            <a:r>
              <a:rPr sz="5400" spc="-330" dirty="0">
                <a:latin typeface="Times New Roman"/>
                <a:cs typeface="Times New Roman"/>
              </a:rPr>
              <a:t> </a:t>
            </a:r>
            <a:r>
              <a:rPr sz="5400" spc="-20" dirty="0"/>
              <a:t>mass</a:t>
            </a:r>
            <a:r>
              <a:rPr sz="5400" spc="-20" dirty="0">
                <a:latin typeface="Times New Roman"/>
                <a:cs typeface="Times New Roman"/>
              </a:rPr>
              <a:t> </a:t>
            </a:r>
            <a:r>
              <a:rPr sz="5400" spc="-10" dirty="0"/>
              <a:t>carried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spc="-30" dirty="0"/>
              <a:t>by</a:t>
            </a:r>
            <a:r>
              <a:rPr sz="5400" spc="-280" dirty="0">
                <a:latin typeface="Times New Roman"/>
                <a:cs typeface="Times New Roman"/>
              </a:rPr>
              <a:t> </a:t>
            </a:r>
            <a:r>
              <a:rPr sz="5400" spc="-20" dirty="0"/>
              <a:t>booster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20" dirty="0"/>
              <a:t>version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/>
              <a:t>F9</a:t>
            </a:r>
            <a:r>
              <a:rPr sz="5400" spc="-290" dirty="0">
                <a:latin typeface="Times New Roman"/>
                <a:cs typeface="Times New Roman"/>
              </a:rPr>
              <a:t> </a:t>
            </a:r>
            <a:r>
              <a:rPr sz="5400" spc="-20" dirty="0"/>
              <a:t>v1.1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927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2928.4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666445"/>
            <a:ext cx="10127615" cy="307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spc="-50" dirty="0"/>
              <a:t>5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5830"/>
              </a:lnSpc>
              <a:spcBef>
                <a:spcPts val="415"/>
              </a:spcBef>
            </a:pPr>
            <a:r>
              <a:rPr sz="5400" spc="-10" dirty="0"/>
              <a:t>List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25" dirty="0"/>
              <a:t>date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/>
              <a:t>when</a:t>
            </a:r>
            <a:r>
              <a:rPr sz="5400" spc="-330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20" dirty="0"/>
              <a:t>first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/>
              <a:t>succesful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dirty="0"/>
              <a:t>landing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10" dirty="0"/>
              <a:t>outcome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/>
              <a:t>in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/>
              <a:t>ground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10" dirty="0"/>
              <a:t>pad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25" dirty="0"/>
              <a:t>was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spc="-10" dirty="0"/>
              <a:t>acheived.</a:t>
            </a:r>
            <a:r>
              <a:rPr sz="54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¶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153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05/11/2017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0"/>
            <a:ext cx="174878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50" dirty="0"/>
              <a:t>6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666444"/>
            <a:ext cx="10142855" cy="3071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50"/>
              </a:spcBef>
            </a:pPr>
            <a:r>
              <a:rPr sz="5400" spc="-10" dirty="0">
                <a:latin typeface="Aptos Display"/>
                <a:cs typeface="Aptos Display"/>
              </a:rPr>
              <a:t>List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the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names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of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the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25" dirty="0">
                <a:latin typeface="Aptos Display"/>
                <a:cs typeface="Aptos Display"/>
              </a:rPr>
              <a:t>boosters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which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have</a:t>
            </a:r>
            <a:r>
              <a:rPr sz="5400" spc="-35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success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in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drone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ship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and</a:t>
            </a:r>
            <a:r>
              <a:rPr sz="5400" spc="-330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have</a:t>
            </a:r>
            <a:r>
              <a:rPr sz="5400" spc="-2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payload</a:t>
            </a:r>
            <a:r>
              <a:rPr sz="5400" spc="-35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mass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30" dirty="0">
                <a:latin typeface="Aptos Display"/>
                <a:cs typeface="Aptos Display"/>
              </a:rPr>
              <a:t>greater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than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4000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25" dirty="0">
                <a:latin typeface="Aptos Display"/>
                <a:cs typeface="Aptos Display"/>
              </a:rPr>
              <a:t>but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less</a:t>
            </a:r>
            <a:r>
              <a:rPr sz="5400" spc="-34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than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6000</a:t>
            </a:r>
            <a:r>
              <a:rPr sz="5400"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Aptos Display"/>
                <a:cs typeface="Aptos Display"/>
              </a:rPr>
              <a:t>¶</a:t>
            </a:r>
            <a:endParaRPr sz="5400">
              <a:latin typeface="Aptos Display"/>
              <a:cs typeface="Aptos Displa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0842" y="4565650"/>
            <a:ext cx="92538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400" spc="-13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FTB1022,</a:t>
            </a:r>
            <a:r>
              <a:rPr sz="2400" spc="-10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400" spc="-114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FTB1026,F9</a:t>
            </a:r>
            <a:r>
              <a:rPr sz="24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FTB1021.2,</a:t>
            </a:r>
            <a:r>
              <a:rPr sz="24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400" spc="-114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FT1029.2,</a:t>
            </a:r>
            <a:r>
              <a:rPr sz="24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400" spc="-114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FTB1031.3,</a:t>
            </a:r>
            <a:r>
              <a:rPr sz="24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400" spc="-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B4B1042.1,</a:t>
            </a:r>
            <a:r>
              <a:rPr sz="2400" spc="-9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400" spc="-1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B5B1046.1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1407667"/>
            <a:ext cx="9558020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55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50" dirty="0"/>
              <a:t>7</a:t>
            </a:r>
            <a:endParaRPr sz="5400">
              <a:latin typeface="Times New Roman"/>
              <a:cs typeface="Times New Roman"/>
            </a:endParaRPr>
          </a:p>
          <a:p>
            <a:pPr marL="12700" marR="5080">
              <a:lnSpc>
                <a:spcPts val="5830"/>
              </a:lnSpc>
              <a:spcBef>
                <a:spcPts val="409"/>
              </a:spcBef>
            </a:pPr>
            <a:r>
              <a:rPr sz="5400" spc="-10" dirty="0"/>
              <a:t>List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/>
              <a:t>the</a:t>
            </a:r>
            <a:r>
              <a:rPr sz="5400" spc="-330" dirty="0">
                <a:latin typeface="Times New Roman"/>
                <a:cs typeface="Times New Roman"/>
              </a:rPr>
              <a:t> </a:t>
            </a:r>
            <a:r>
              <a:rPr sz="5400" spc="-10" dirty="0"/>
              <a:t>total</a:t>
            </a:r>
            <a:r>
              <a:rPr sz="5400" spc="-345" dirty="0">
                <a:latin typeface="Times New Roman"/>
                <a:cs typeface="Times New Roman"/>
              </a:rPr>
              <a:t> </a:t>
            </a:r>
            <a:r>
              <a:rPr sz="5400" dirty="0"/>
              <a:t>number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/>
              <a:t>of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spc="-10" dirty="0"/>
              <a:t>successful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dirty="0"/>
              <a:t>and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35" dirty="0"/>
              <a:t>failure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dirty="0"/>
              <a:t>mission</a:t>
            </a:r>
            <a:r>
              <a:rPr sz="5400" spc="-290" dirty="0">
                <a:latin typeface="Times New Roman"/>
                <a:cs typeface="Times New Roman"/>
              </a:rPr>
              <a:t> </a:t>
            </a:r>
            <a:r>
              <a:rPr sz="5400" spc="-10" dirty="0"/>
              <a:t>outcomes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625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55</a:t>
            </a:r>
            <a:r>
              <a:rPr sz="2400" spc="-13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successful</a:t>
            </a:r>
            <a:r>
              <a:rPr sz="2400" spc="-1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and</a:t>
            </a:r>
            <a:r>
              <a:rPr sz="2400" spc="-1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10</a:t>
            </a:r>
            <a:r>
              <a:rPr sz="2400" spc="-10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Failure</a:t>
            </a:r>
            <a:r>
              <a:rPr sz="2400" spc="-13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mission</a:t>
            </a:r>
            <a:r>
              <a:rPr sz="2400" spc="-12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outcomes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2" y="0"/>
            <a:ext cx="174878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10" dirty="0"/>
              <a:t>Task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50" dirty="0"/>
              <a:t>8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666444"/>
            <a:ext cx="9669145" cy="30714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50"/>
              </a:spcBef>
            </a:pPr>
            <a:r>
              <a:rPr sz="5400" spc="-10" dirty="0">
                <a:latin typeface="Aptos Display"/>
                <a:cs typeface="Aptos Display"/>
              </a:rPr>
              <a:t>List</a:t>
            </a:r>
            <a:r>
              <a:rPr sz="5400" spc="-280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all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the</a:t>
            </a:r>
            <a:r>
              <a:rPr sz="5400" spc="-280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booster_versions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that</a:t>
            </a:r>
            <a:r>
              <a:rPr sz="5400" spc="-20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have</a:t>
            </a:r>
            <a:r>
              <a:rPr sz="5400" spc="-340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carried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the</a:t>
            </a:r>
            <a:r>
              <a:rPr sz="5400" spc="-29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maximum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payload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mass,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using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a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subquery</a:t>
            </a:r>
            <a:r>
              <a:rPr sz="5400" spc="-28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with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50" dirty="0">
                <a:latin typeface="Aptos Display"/>
                <a:cs typeface="Aptos Display"/>
              </a:rPr>
              <a:t>a</a:t>
            </a:r>
            <a:r>
              <a:rPr sz="5400" spc="-50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suitable</a:t>
            </a:r>
            <a:r>
              <a:rPr sz="5400" spc="-275" dirty="0">
                <a:latin typeface="Times New Roman"/>
                <a:cs typeface="Times New Roman"/>
              </a:rPr>
              <a:t> </a:t>
            </a:r>
            <a:r>
              <a:rPr sz="5400" spc="-30" dirty="0">
                <a:latin typeface="Aptos Display"/>
                <a:cs typeface="Aptos Display"/>
              </a:rPr>
              <a:t>aggregate</a:t>
            </a:r>
            <a:r>
              <a:rPr sz="5400" spc="-28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function.</a:t>
            </a:r>
            <a:endParaRPr sz="5400">
              <a:latin typeface="Aptos Display"/>
              <a:cs typeface="Aptos Displa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0842" y="4571746"/>
            <a:ext cx="9878695" cy="126619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59"/>
              </a:spcBef>
            </a:pP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10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B5B11058.1,</a:t>
            </a:r>
            <a:r>
              <a:rPr sz="2200" spc="-1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10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67676"/>
                </a:solidFill>
                <a:latin typeface="Aptos"/>
                <a:cs typeface="Aptos"/>
              </a:rPr>
              <a:t>B5</a:t>
            </a:r>
            <a:r>
              <a:rPr sz="22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B1049.5,</a:t>
            </a:r>
            <a:r>
              <a:rPr sz="2200" spc="-9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9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67676"/>
                </a:solidFill>
                <a:latin typeface="Aptos"/>
                <a:cs typeface="Aptos"/>
              </a:rPr>
              <a:t>B5</a:t>
            </a:r>
            <a:r>
              <a:rPr sz="22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B1048.5,</a:t>
            </a:r>
            <a:r>
              <a:rPr sz="2200" spc="-9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9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B5B1048.26,</a:t>
            </a:r>
            <a:r>
              <a:rPr sz="2200" spc="-1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9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B5B1048.25,</a:t>
            </a:r>
            <a:r>
              <a:rPr sz="2200" spc="-10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B5B1048.28,</a:t>
            </a:r>
            <a:r>
              <a:rPr sz="2200" spc="-8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6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B5B1048.42,</a:t>
            </a:r>
            <a:r>
              <a:rPr sz="2200" spc="-8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6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B5B1048.38,</a:t>
            </a:r>
            <a:r>
              <a:rPr sz="2200" spc="-7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5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B5B1048.37,F9</a:t>
            </a:r>
            <a:r>
              <a:rPr sz="2200" spc="-8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B5B1048.36,F9</a:t>
            </a:r>
            <a:r>
              <a:rPr sz="2200" spc="-1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B5B1048.35,</a:t>
            </a:r>
            <a:r>
              <a:rPr sz="2200" spc="-7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5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B5B1048.33,</a:t>
            </a:r>
            <a:r>
              <a:rPr sz="2200" spc="-7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5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B5B1048.32,</a:t>
            </a:r>
            <a:r>
              <a:rPr sz="2200" spc="-7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4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B5B1048.29,F9</a:t>
            </a:r>
            <a:r>
              <a:rPr sz="2200" spc="-8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B5B1048.23,</a:t>
            </a:r>
            <a:r>
              <a:rPr sz="2200" spc="-7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2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B5B1048.21,</a:t>
            </a:r>
            <a:r>
              <a:rPr sz="22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7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B5B1048.20,</a:t>
            </a:r>
            <a:r>
              <a:rPr sz="2200" spc="-8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7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B5B1048.17,</a:t>
            </a:r>
            <a:r>
              <a:rPr sz="2200" spc="-8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5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767676"/>
                </a:solidFill>
                <a:latin typeface="Aptos"/>
                <a:cs typeface="Aptos"/>
              </a:rPr>
              <a:t>B5B1048.11,</a:t>
            </a:r>
            <a:r>
              <a:rPr sz="2200" spc="-10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767676"/>
                </a:solidFill>
                <a:latin typeface="Aptos"/>
                <a:cs typeface="Aptos"/>
              </a:rPr>
              <a:t>F9</a:t>
            </a:r>
            <a:r>
              <a:rPr sz="2200" spc="-5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767676"/>
                </a:solidFill>
                <a:latin typeface="Aptos"/>
                <a:cs typeface="Aptos"/>
              </a:rPr>
              <a:t>B5B1048.13</a:t>
            </a:r>
            <a:endParaRPr sz="2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2" y="0"/>
            <a:ext cx="10099040" cy="3811904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sz="5400" b="1" spc="-25" dirty="0">
                <a:latin typeface="Aptos Display"/>
                <a:cs typeface="Aptos Display"/>
              </a:rPr>
              <a:t>Note:</a:t>
            </a:r>
            <a:r>
              <a:rPr sz="5400" spc="-325" dirty="0">
                <a:latin typeface="Times New Roman"/>
                <a:cs typeface="Times New Roman"/>
              </a:rPr>
              <a:t> </a:t>
            </a:r>
            <a:r>
              <a:rPr sz="5400" b="1" spc="-30" dirty="0">
                <a:latin typeface="Aptos Display"/>
                <a:cs typeface="Aptos Display"/>
              </a:rPr>
              <a:t>SQLLite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b="1" spc="-25" dirty="0">
                <a:latin typeface="Aptos Display"/>
                <a:cs typeface="Aptos Display"/>
              </a:rPr>
              <a:t>does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b="1" spc="-10" dirty="0">
                <a:latin typeface="Aptos Display"/>
                <a:cs typeface="Aptos Display"/>
              </a:rPr>
              <a:t>not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b="1" spc="-10" dirty="0">
                <a:latin typeface="Aptos Display"/>
                <a:cs typeface="Aptos Display"/>
              </a:rPr>
              <a:t>support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b="1" spc="-35" dirty="0">
                <a:latin typeface="Aptos Display"/>
                <a:cs typeface="Aptos Display"/>
              </a:rPr>
              <a:t>monthnames.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b="1" spc="-30" dirty="0">
                <a:latin typeface="Aptos Display"/>
                <a:cs typeface="Aptos Display"/>
              </a:rPr>
              <a:t>So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b="1" spc="-40" dirty="0">
                <a:latin typeface="Aptos Display"/>
                <a:cs typeface="Aptos Display"/>
              </a:rPr>
              <a:t>you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b="1" spc="-25" dirty="0">
                <a:latin typeface="Aptos Display"/>
                <a:cs typeface="Aptos Display"/>
              </a:rPr>
              <a:t>need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b="1" spc="-35" dirty="0">
                <a:latin typeface="Aptos Display"/>
                <a:cs typeface="Aptos Display"/>
              </a:rPr>
              <a:t>to</a:t>
            </a:r>
            <a:r>
              <a:rPr sz="5400" spc="-290" dirty="0">
                <a:latin typeface="Times New Roman"/>
                <a:cs typeface="Times New Roman"/>
              </a:rPr>
              <a:t> </a:t>
            </a:r>
            <a:r>
              <a:rPr sz="5400" b="1" spc="-25" dirty="0">
                <a:latin typeface="Aptos Display"/>
                <a:cs typeface="Aptos Display"/>
              </a:rPr>
              <a:t>use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b="1" spc="-50" dirty="0">
                <a:latin typeface="Aptos Display"/>
                <a:cs typeface="Aptos Display"/>
              </a:rPr>
              <a:t>substr(Date,</a:t>
            </a:r>
            <a:r>
              <a:rPr sz="5400" spc="-285" dirty="0">
                <a:latin typeface="Times New Roman"/>
                <a:cs typeface="Times New Roman"/>
              </a:rPr>
              <a:t> </a:t>
            </a:r>
            <a:r>
              <a:rPr sz="5400" b="1" spc="-25" dirty="0">
                <a:latin typeface="Aptos Display"/>
                <a:cs typeface="Aptos Display"/>
              </a:rPr>
              <a:t>6,2)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b="1" spc="-20" dirty="0">
                <a:latin typeface="Aptos Display"/>
                <a:cs typeface="Aptos Display"/>
              </a:rPr>
              <a:t>as</a:t>
            </a:r>
            <a:r>
              <a:rPr sz="5400" spc="-270" dirty="0">
                <a:latin typeface="Times New Roman"/>
                <a:cs typeface="Times New Roman"/>
              </a:rPr>
              <a:t> </a:t>
            </a:r>
            <a:r>
              <a:rPr sz="5400" b="1" spc="-30" dirty="0">
                <a:latin typeface="Aptos Display"/>
                <a:cs typeface="Aptos Display"/>
              </a:rPr>
              <a:t>month</a:t>
            </a:r>
            <a:r>
              <a:rPr sz="5400" spc="-315" dirty="0">
                <a:latin typeface="Times New Roman"/>
                <a:cs typeface="Times New Roman"/>
              </a:rPr>
              <a:t> </a:t>
            </a:r>
            <a:r>
              <a:rPr sz="5400" b="1" spc="-25" dirty="0">
                <a:latin typeface="Aptos Display"/>
                <a:cs typeface="Aptos Display"/>
              </a:rPr>
              <a:t>to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b="1" spc="-40" dirty="0">
                <a:latin typeface="Aptos Display"/>
                <a:cs typeface="Aptos Display"/>
              </a:rPr>
              <a:t>get</a:t>
            </a:r>
            <a:r>
              <a:rPr sz="5400" spc="-290" dirty="0">
                <a:latin typeface="Times New Roman"/>
                <a:cs typeface="Times New Roman"/>
              </a:rPr>
              <a:t> </a:t>
            </a:r>
            <a:r>
              <a:rPr sz="5400" b="1" spc="-25" dirty="0">
                <a:latin typeface="Aptos Display"/>
                <a:cs typeface="Aptos Display"/>
              </a:rPr>
              <a:t>the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b="1" spc="-30" dirty="0">
                <a:latin typeface="Aptos Display"/>
                <a:cs typeface="Aptos Display"/>
              </a:rPr>
              <a:t>months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b="1" spc="-20" dirty="0">
                <a:latin typeface="Aptos Display"/>
                <a:cs typeface="Aptos Display"/>
              </a:rPr>
              <a:t>and</a:t>
            </a:r>
            <a:r>
              <a:rPr sz="5400" spc="-280" dirty="0">
                <a:latin typeface="Times New Roman"/>
                <a:cs typeface="Times New Roman"/>
              </a:rPr>
              <a:t> </a:t>
            </a:r>
            <a:r>
              <a:rPr sz="5400" b="1" spc="-10" dirty="0">
                <a:latin typeface="Aptos Display"/>
                <a:cs typeface="Aptos Display"/>
              </a:rPr>
              <a:t>substr(Date,0,5)='2015'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b="1" spc="-45" dirty="0">
                <a:latin typeface="Aptos Display"/>
                <a:cs typeface="Aptos Display"/>
              </a:rPr>
              <a:t>for</a:t>
            </a:r>
            <a:r>
              <a:rPr sz="5400" spc="-280" dirty="0">
                <a:latin typeface="Times New Roman"/>
                <a:cs typeface="Times New Roman"/>
              </a:rPr>
              <a:t> </a:t>
            </a:r>
            <a:r>
              <a:rPr sz="5400" b="1" spc="-10" dirty="0">
                <a:latin typeface="Aptos Display"/>
                <a:cs typeface="Aptos Display"/>
              </a:rPr>
              <a:t>year.</a:t>
            </a:r>
            <a:endParaRPr sz="5400">
              <a:latin typeface="Aptos Display"/>
              <a:cs typeface="Aptos Display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3309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767676"/>
                </a:solidFill>
                <a:latin typeface="Aptos"/>
                <a:cs typeface="Aptos"/>
              </a:rPr>
              <a:t>May,June,July,September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842" y="0"/>
            <a:ext cx="10176510" cy="381190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45"/>
              </a:spcBef>
            </a:pPr>
            <a:r>
              <a:rPr sz="5400" dirty="0">
                <a:latin typeface="Aptos Display"/>
                <a:cs typeface="Aptos Display"/>
              </a:rPr>
              <a:t>Rank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the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count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of</a:t>
            </a:r>
            <a:r>
              <a:rPr sz="5400" spc="-33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landing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outcomes</a:t>
            </a:r>
            <a:r>
              <a:rPr sz="5400" spc="-1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(such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as</a:t>
            </a:r>
            <a:r>
              <a:rPr sz="5400" spc="-310" dirty="0">
                <a:latin typeface="Times New Roman"/>
                <a:cs typeface="Times New Roman"/>
              </a:rPr>
              <a:t> </a:t>
            </a:r>
            <a:r>
              <a:rPr sz="5400" spc="-30" dirty="0">
                <a:latin typeface="Aptos Display"/>
                <a:cs typeface="Aptos Display"/>
              </a:rPr>
              <a:t>Failure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(drone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ship)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25" dirty="0">
                <a:latin typeface="Aptos Display"/>
                <a:cs typeface="Aptos Display"/>
              </a:rPr>
              <a:t>or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Success</a:t>
            </a:r>
            <a:r>
              <a:rPr sz="5400" spc="-29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(ground</a:t>
            </a:r>
            <a:r>
              <a:rPr sz="5400" spc="-290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pad))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between</a:t>
            </a:r>
            <a:r>
              <a:rPr sz="5400" spc="-320" dirty="0">
                <a:latin typeface="Times New Roman"/>
                <a:cs typeface="Times New Roman"/>
              </a:rPr>
              <a:t> </a:t>
            </a:r>
            <a:r>
              <a:rPr sz="5400" spc="-25" dirty="0">
                <a:latin typeface="Aptos Display"/>
                <a:cs typeface="Aptos Display"/>
              </a:rPr>
              <a:t>the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spc="-20" dirty="0">
                <a:latin typeface="Aptos Display"/>
                <a:cs typeface="Aptos Display"/>
              </a:rPr>
              <a:t>date</a:t>
            </a:r>
            <a:r>
              <a:rPr sz="5400" spc="-300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2010-06-</a:t>
            </a:r>
            <a:r>
              <a:rPr sz="5400" dirty="0">
                <a:latin typeface="Aptos Display"/>
                <a:cs typeface="Aptos Display"/>
              </a:rPr>
              <a:t>04</a:t>
            </a:r>
            <a:r>
              <a:rPr sz="5400" spc="-28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and</a:t>
            </a:r>
            <a:r>
              <a:rPr sz="5400" spc="-30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2017-03-</a:t>
            </a:r>
            <a:r>
              <a:rPr sz="5400" dirty="0">
                <a:latin typeface="Aptos Display"/>
                <a:cs typeface="Aptos Display"/>
              </a:rPr>
              <a:t>20,</a:t>
            </a:r>
            <a:r>
              <a:rPr sz="5400" spc="-275" dirty="0">
                <a:latin typeface="Times New Roman"/>
                <a:cs typeface="Times New Roman"/>
              </a:rPr>
              <a:t> </a:t>
            </a:r>
            <a:r>
              <a:rPr sz="5400" spc="-25" dirty="0">
                <a:latin typeface="Aptos Display"/>
                <a:cs typeface="Aptos Display"/>
              </a:rPr>
              <a:t>in</a:t>
            </a:r>
            <a:r>
              <a:rPr sz="5400" spc="-2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Aptos Display"/>
                <a:cs typeface="Aptos Display"/>
              </a:rPr>
              <a:t>descending</a:t>
            </a:r>
            <a:r>
              <a:rPr sz="5400" spc="-33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Aptos Display"/>
                <a:cs typeface="Aptos Display"/>
              </a:rPr>
              <a:t>order.</a:t>
            </a:r>
            <a:endParaRPr sz="5400">
              <a:latin typeface="Aptos Display"/>
              <a:cs typeface="Aptos Display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0842" y="4565650"/>
            <a:ext cx="842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Success(ground</a:t>
            </a:r>
            <a:r>
              <a:rPr sz="2400" spc="-12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pad)</a:t>
            </a:r>
            <a:r>
              <a:rPr sz="2400" spc="-105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05/01/2017Failure(drone</a:t>
            </a:r>
            <a:r>
              <a:rPr sz="2400" spc="-9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767676"/>
                </a:solidFill>
                <a:latin typeface="Aptos"/>
                <a:cs typeface="Aptos"/>
              </a:rPr>
              <a:t>ship)</a:t>
            </a:r>
            <a:r>
              <a:rPr sz="2400" spc="-100" dirty="0">
                <a:solidFill>
                  <a:srgbClr val="767676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767676"/>
                </a:solidFill>
                <a:latin typeface="Aptos"/>
                <a:cs typeface="Aptos"/>
              </a:rPr>
              <a:t>03/04/2016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6592" y="1655775"/>
            <a:ext cx="8799195" cy="23139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algn="ctr">
              <a:lnSpc>
                <a:spcPts val="6480"/>
              </a:lnSpc>
              <a:spcBef>
                <a:spcPts val="915"/>
              </a:spcBef>
            </a:pPr>
            <a:r>
              <a:rPr sz="6000" spc="-30" dirty="0"/>
              <a:t>Interactive</a:t>
            </a:r>
            <a:r>
              <a:rPr sz="6000" spc="-315" dirty="0">
                <a:latin typeface="Times New Roman"/>
                <a:cs typeface="Times New Roman"/>
              </a:rPr>
              <a:t> </a:t>
            </a:r>
            <a:r>
              <a:rPr sz="6000" dirty="0"/>
              <a:t>map</a:t>
            </a:r>
            <a:r>
              <a:rPr sz="6000" spc="-300" dirty="0">
                <a:latin typeface="Times New Roman"/>
                <a:cs typeface="Times New Roman"/>
              </a:rPr>
              <a:t> </a:t>
            </a:r>
            <a:r>
              <a:rPr sz="6000" spc="-25" dirty="0"/>
              <a:t>results</a:t>
            </a:r>
            <a:r>
              <a:rPr sz="6000" spc="-310" dirty="0">
                <a:latin typeface="Times New Roman"/>
                <a:cs typeface="Times New Roman"/>
              </a:rPr>
              <a:t> </a:t>
            </a:r>
            <a:r>
              <a:rPr sz="6000" spc="-10" dirty="0"/>
              <a:t>using</a:t>
            </a:r>
            <a:r>
              <a:rPr sz="6000" spc="-10" dirty="0">
                <a:latin typeface="Times New Roman"/>
                <a:cs typeface="Times New Roman"/>
              </a:rPr>
              <a:t> </a:t>
            </a:r>
            <a:r>
              <a:rPr sz="6000" spc="-10" dirty="0"/>
              <a:t>Folium</a:t>
            </a:r>
            <a:endParaRPr sz="60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1360"/>
              </a:spcBef>
            </a:pPr>
            <a:r>
              <a:rPr sz="2400" spc="-20" dirty="0">
                <a:latin typeface="Aptos"/>
                <a:cs typeface="Aptos"/>
              </a:rPr>
              <a:t>Interactive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map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results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using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Folium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603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spc="-2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Generating</a:t>
            </a:r>
            <a:r>
              <a:rPr u="sng" spc="-229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Maps</a:t>
            </a:r>
            <a:r>
              <a:rPr u="sng" spc="-245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with</a:t>
            </a:r>
            <a:r>
              <a:rPr u="sng" spc="-225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sng" spc="-10" dirty="0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610725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  <a:tab pos="2084705" algn="l"/>
                <a:tab pos="4003040" algn="l"/>
                <a:tab pos="5850890" algn="l"/>
                <a:tab pos="6255385" algn="l"/>
                <a:tab pos="8101330" algn="l"/>
              </a:tabLst>
            </a:pPr>
            <a:r>
              <a:rPr sz="2800" dirty="0">
                <a:latin typeface="Aptos"/>
                <a:cs typeface="Aptos"/>
              </a:rPr>
              <a:t>##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Aptos"/>
                <a:cs typeface="Aptos"/>
              </a:rPr>
              <a:t>Task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1: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Mark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all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launch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sites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on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a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mapCCAFS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Aptos"/>
                <a:cs typeface="Aptos"/>
              </a:rPr>
              <a:t>LC-</a:t>
            </a:r>
            <a:r>
              <a:rPr sz="2800" spc="-25" dirty="0">
                <a:latin typeface="Aptos"/>
                <a:cs typeface="Aptos"/>
              </a:rPr>
              <a:t>40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28.562302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Aptos"/>
                <a:cs typeface="Aptos"/>
              </a:rPr>
              <a:t>-80.577356CCAFS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Aptos"/>
                <a:cs typeface="Aptos"/>
              </a:rPr>
              <a:t>SLC-</a:t>
            </a:r>
            <a:r>
              <a:rPr sz="2800" spc="-25" dirty="0">
                <a:latin typeface="Aptos"/>
                <a:cs typeface="Aptos"/>
              </a:rPr>
              <a:t>40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Aptos"/>
                <a:cs typeface="Aptos"/>
              </a:rPr>
              <a:t>28.563197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Aptos"/>
                <a:cs typeface="Aptos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80.576820KSC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Aptos"/>
                <a:cs typeface="Aptos"/>
              </a:rPr>
              <a:t>LC-</a:t>
            </a:r>
            <a:r>
              <a:rPr sz="2800" spc="-25" dirty="0">
                <a:latin typeface="Aptos"/>
                <a:cs typeface="Aptos"/>
              </a:rPr>
              <a:t>39A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Aptos"/>
                <a:cs typeface="Aptos"/>
              </a:rPr>
              <a:t>28.573255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Aptos"/>
                <a:cs typeface="Aptos"/>
              </a:rPr>
              <a:t>-</a:t>
            </a:r>
            <a:r>
              <a:rPr sz="2800" spc="-25" dirty="0">
                <a:latin typeface="Aptos"/>
                <a:cs typeface="Aptos"/>
              </a:rPr>
              <a:t>80.646895VAFB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Aptos"/>
                <a:cs typeface="Aptos"/>
              </a:rPr>
              <a:t>SLC-</a:t>
            </a:r>
            <a:r>
              <a:rPr sz="2800" spc="-25" dirty="0">
                <a:latin typeface="Aptos"/>
                <a:cs typeface="Aptos"/>
              </a:rPr>
              <a:t>4E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34.632834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35" dirty="0">
                <a:latin typeface="Aptos"/>
                <a:cs typeface="Aptos"/>
              </a:rPr>
              <a:t>-</a:t>
            </a:r>
            <a:r>
              <a:rPr sz="2800" spc="-10" dirty="0">
                <a:latin typeface="Aptos"/>
                <a:cs typeface="Aptos"/>
              </a:rPr>
              <a:t>120.610745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957453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A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look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0" dirty="0"/>
              <a:t>at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10" dirty="0"/>
              <a:t>what</a:t>
            </a:r>
            <a:r>
              <a:rPr spc="-280" dirty="0">
                <a:latin typeface="Times New Roman"/>
                <a:cs typeface="Times New Roman"/>
              </a:rPr>
              <a:t> </a:t>
            </a:r>
            <a:r>
              <a:rPr spc="-20" dirty="0"/>
              <a:t>are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10" dirty="0"/>
              <a:t>coordinates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spc="-20" dirty="0"/>
              <a:t>for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0" dirty="0"/>
              <a:t>each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0" dirty="0"/>
              <a:t>site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19195" y="3130532"/>
          <a:ext cx="8075295" cy="1740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9305" algn="r">
                        <a:lnSpc>
                          <a:spcPts val="2050"/>
                        </a:lnSpc>
                      </a:pPr>
                      <a:r>
                        <a:rPr sz="1800" b="1" spc="-10" dirty="0">
                          <a:latin typeface="Aptos"/>
                          <a:cs typeface="Aptos"/>
                        </a:rPr>
                        <a:t>Launch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Aptos"/>
                          <a:cs typeface="Aptos"/>
                        </a:rPr>
                        <a:t>Site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6595" algn="r">
                        <a:lnSpc>
                          <a:spcPts val="2050"/>
                        </a:lnSpc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Lat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2050"/>
                        </a:lnSpc>
                      </a:pPr>
                      <a:r>
                        <a:rPr sz="1800" b="1" spc="-20" dirty="0">
                          <a:latin typeface="Aptos"/>
                          <a:cs typeface="Aptos"/>
                        </a:rPr>
                        <a:t>Long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Aptos"/>
                          <a:cs typeface="Aptos"/>
                        </a:rPr>
                        <a:t>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86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Aptos"/>
                          <a:cs typeface="Aptos"/>
                        </a:rPr>
                        <a:t>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6946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28.562302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-80.577356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86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6946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Aptos"/>
                          <a:cs typeface="Aptos"/>
                        </a:rPr>
                        <a:t>2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86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KSC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Aptos"/>
                          <a:cs typeface="Aptos"/>
                        </a:rPr>
                        <a:t>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39A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6946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28.573255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-80.646895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latin typeface="Aptos"/>
                          <a:cs typeface="Aptos"/>
                        </a:rPr>
                        <a:t>3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86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Aptos"/>
                          <a:cs typeface="Aptos"/>
                        </a:rPr>
                        <a:t>VAFB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4E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6946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34.632834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35" dirty="0">
                          <a:latin typeface="Aptos"/>
                          <a:cs typeface="Aptos"/>
                        </a:rPr>
                        <a:t>-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120.610745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94615"/>
            <a:ext cx="975106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40" dirty="0"/>
              <a:t>Create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dirty="0"/>
              <a:t>a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30" dirty="0"/>
              <a:t>folium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map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0" dirty="0"/>
              <a:t>object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0" dirty="0"/>
              <a:t>with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10" dirty="0"/>
              <a:t>an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initial</a:t>
            </a:r>
            <a:r>
              <a:rPr sz="4000" spc="-229" dirty="0">
                <a:latin typeface="Times New Roman"/>
                <a:cs typeface="Times New Roman"/>
              </a:rPr>
              <a:t> </a:t>
            </a:r>
            <a:r>
              <a:rPr sz="4000" spc="-10" dirty="0"/>
              <a:t>center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25" dirty="0"/>
              <a:t>location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40" dirty="0"/>
              <a:t>to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20" dirty="0"/>
              <a:t>be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20" dirty="0"/>
              <a:t>NASA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5" dirty="0"/>
              <a:t>Johnson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20" dirty="0"/>
              <a:t>Space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5" dirty="0"/>
              <a:t>Center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5" dirty="0"/>
              <a:t>at</a:t>
            </a:r>
            <a:r>
              <a:rPr sz="4000" spc="-25" dirty="0">
                <a:latin typeface="Times New Roman"/>
                <a:cs typeface="Times New Roman"/>
              </a:rPr>
              <a:t> </a:t>
            </a:r>
            <a:r>
              <a:rPr sz="4000" spc="-25" dirty="0"/>
              <a:t>Houston,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10" dirty="0"/>
              <a:t>Texas.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80" y="1825688"/>
            <a:ext cx="7406512" cy="435127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92303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Generated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map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25" dirty="0"/>
              <a:t>marked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launch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10" dirty="0"/>
              <a:t>sites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#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90" dirty="0"/>
              <a:t>Task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2: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Mark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20" dirty="0"/>
              <a:t>success/failed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launches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5" dirty="0"/>
              <a:t>for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each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spc="-10" dirty="0"/>
              <a:t>site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on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5" dirty="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71"/>
            <a:ext cx="4902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Aptos"/>
                <a:cs typeface="Aptos"/>
              </a:rPr>
              <a:t>VAFB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Aptos"/>
                <a:cs typeface="Aptos"/>
              </a:rPr>
              <a:t>SLCE-</a:t>
            </a:r>
            <a:r>
              <a:rPr sz="2800" dirty="0">
                <a:latin typeface="Aptos"/>
                <a:cs typeface="Aptos"/>
              </a:rPr>
              <a:t>4E,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CCAFS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Aptos"/>
                <a:cs typeface="Aptos"/>
              </a:rPr>
              <a:t>SLC-</a:t>
            </a:r>
            <a:r>
              <a:rPr sz="2800" spc="-25" dirty="0">
                <a:latin typeface="Aptos"/>
                <a:cs typeface="Aptos"/>
              </a:rPr>
              <a:t>40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94615"/>
            <a:ext cx="994537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75"/>
              </a:spcBef>
            </a:pPr>
            <a:r>
              <a:rPr sz="4000" spc="-25" dirty="0"/>
              <a:t>enhancd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map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55" dirty="0"/>
              <a:t>by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5" dirty="0"/>
              <a:t>adding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15" dirty="0">
                <a:latin typeface="Times New Roman"/>
                <a:cs typeface="Times New Roman"/>
              </a:rPr>
              <a:t> </a:t>
            </a:r>
            <a:r>
              <a:rPr sz="4000" spc="-20" dirty="0"/>
              <a:t>launch</a:t>
            </a:r>
            <a:r>
              <a:rPr sz="4000" spc="-190" dirty="0">
                <a:latin typeface="Times New Roman"/>
                <a:cs typeface="Times New Roman"/>
              </a:rPr>
              <a:t> </a:t>
            </a:r>
            <a:r>
              <a:rPr sz="4000" spc="-30" dirty="0"/>
              <a:t>outcomes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5" dirty="0"/>
              <a:t>for</a:t>
            </a:r>
            <a:r>
              <a:rPr sz="4000" spc="-25" dirty="0">
                <a:latin typeface="Times New Roman"/>
                <a:cs typeface="Times New Roman"/>
              </a:rPr>
              <a:t> </a:t>
            </a:r>
            <a:r>
              <a:rPr sz="4000" spc="-20" dirty="0"/>
              <a:t>each</a:t>
            </a:r>
            <a:r>
              <a:rPr sz="4000" spc="-229" dirty="0">
                <a:latin typeface="Times New Roman"/>
                <a:cs typeface="Times New Roman"/>
              </a:rPr>
              <a:t> </a:t>
            </a:r>
            <a:r>
              <a:rPr sz="4000" spc="-55" dirty="0"/>
              <a:t>site,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and</a:t>
            </a:r>
            <a:r>
              <a:rPr sz="4000" spc="-195" dirty="0">
                <a:latin typeface="Times New Roman"/>
                <a:cs typeface="Times New Roman"/>
              </a:rPr>
              <a:t> </a:t>
            </a:r>
            <a:r>
              <a:rPr sz="4000" spc="-20" dirty="0"/>
              <a:t>see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5" dirty="0"/>
              <a:t>which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25" dirty="0"/>
              <a:t>sites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30" dirty="0"/>
              <a:t>have</a:t>
            </a:r>
            <a:r>
              <a:rPr sz="4000" spc="-210" dirty="0">
                <a:latin typeface="Times New Roman"/>
                <a:cs typeface="Times New Roman"/>
              </a:rPr>
              <a:t> </a:t>
            </a:r>
            <a:r>
              <a:rPr sz="4000" spc="-20" dirty="0"/>
              <a:t>high</a:t>
            </a:r>
            <a:r>
              <a:rPr sz="4000" spc="-204" dirty="0">
                <a:latin typeface="Times New Roman"/>
                <a:cs typeface="Times New Roman"/>
              </a:rPr>
              <a:t> </a:t>
            </a:r>
            <a:r>
              <a:rPr sz="4000" spc="-10" dirty="0"/>
              <a:t>success</a:t>
            </a:r>
            <a:r>
              <a:rPr sz="4000" spc="-10" dirty="0">
                <a:latin typeface="Times New Roman"/>
                <a:cs typeface="Times New Roman"/>
              </a:rPr>
              <a:t> </a:t>
            </a:r>
            <a:r>
              <a:rPr sz="4000" spc="-10" dirty="0"/>
              <a:t>rates.</a:t>
            </a:r>
            <a:endParaRPr sz="4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69972" y="2032998"/>
          <a:ext cx="8724265" cy="3933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5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5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5780" algn="r">
                        <a:lnSpc>
                          <a:spcPts val="2050"/>
                        </a:lnSpc>
                      </a:pPr>
                      <a:r>
                        <a:rPr sz="1800" b="1" spc="-10" dirty="0">
                          <a:latin typeface="Aptos"/>
                          <a:cs typeface="Aptos"/>
                        </a:rPr>
                        <a:t>Launch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Aptos"/>
                          <a:cs typeface="Aptos"/>
                        </a:rPr>
                        <a:t>Site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7045" algn="r">
                        <a:lnSpc>
                          <a:spcPts val="2050"/>
                        </a:lnSpc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Lat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9780" algn="r">
                        <a:lnSpc>
                          <a:spcPts val="2050"/>
                        </a:lnSpc>
                      </a:pPr>
                      <a:r>
                        <a:rPr sz="1800" b="1" spc="-20" dirty="0">
                          <a:latin typeface="Aptos"/>
                          <a:cs typeface="Aptos"/>
                        </a:rPr>
                        <a:t>Long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2050"/>
                        </a:lnSpc>
                      </a:pPr>
                      <a:r>
                        <a:rPr sz="1800" b="1" spc="-10" dirty="0">
                          <a:latin typeface="Aptos"/>
                          <a:cs typeface="Aptos"/>
                        </a:rPr>
                        <a:t>class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46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KSC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Aptos"/>
                          <a:cs typeface="Aptos"/>
                        </a:rPr>
                        <a:t>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39A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28.573255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-80.646895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47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KSC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Aptos"/>
                          <a:cs typeface="Aptos"/>
                        </a:rPr>
                        <a:t>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39A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28.573255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-80.646895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48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KSC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5" dirty="0">
                          <a:latin typeface="Aptos"/>
                          <a:cs typeface="Aptos"/>
                        </a:rPr>
                        <a:t>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39A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28.573255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-80.646895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49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50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51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52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53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54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1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Aptos"/>
                          <a:cs typeface="Aptos"/>
                        </a:rPr>
                        <a:t>55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2324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CCAFS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Aptos"/>
                          <a:cs typeface="Aptos"/>
                        </a:rPr>
                        <a:t>SLC-</a:t>
                      </a:r>
                      <a:r>
                        <a:rPr sz="1800" spc="-25" dirty="0">
                          <a:latin typeface="Aptos"/>
                          <a:cs typeface="Aptos"/>
                        </a:rPr>
                        <a:t>40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48323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28.563197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7785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Aptos"/>
                          <a:cs typeface="Aptos"/>
                        </a:rPr>
                        <a:t>-80.576820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Aptos"/>
                          <a:cs typeface="Aptos"/>
                        </a:rPr>
                        <a:t>0</a:t>
                      </a:r>
                      <a:endParaRPr sz="1800">
                        <a:latin typeface="Aptos"/>
                        <a:cs typeface="Apto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908494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Simplify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220" dirty="0">
                <a:latin typeface="Times New Roman"/>
                <a:cs typeface="Times New Roman"/>
              </a:rPr>
              <a:t> </a:t>
            </a:r>
            <a:r>
              <a:rPr dirty="0"/>
              <a:t>map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10" dirty="0"/>
              <a:t>containing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dirty="0"/>
              <a:t>many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markers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10" dirty="0"/>
              <a:t>having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same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spc="-10" dirty="0"/>
              <a:t>coordinate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80" y="1825688"/>
            <a:ext cx="7406512" cy="435127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Easily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Identifiable</a:t>
            </a:r>
            <a:r>
              <a:rPr spc="-225" dirty="0">
                <a:latin typeface="Times New Roman"/>
                <a:cs typeface="Times New Roman"/>
              </a:rPr>
              <a:t> </a:t>
            </a:r>
            <a:r>
              <a:rPr dirty="0"/>
              <a:t>Launch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spc="-10" dirty="0"/>
              <a:t>sites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relatively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high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dirty="0"/>
              <a:t>success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10" dirty="0"/>
              <a:t>rates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80" y="1825688"/>
            <a:ext cx="7406512" cy="435127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55" dirty="0"/>
              <a:t>TASK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dirty="0"/>
              <a:t>3: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Calculate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distances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10" dirty="0"/>
              <a:t>between</a:t>
            </a:r>
            <a:r>
              <a:rPr spc="-225" dirty="0">
                <a:latin typeface="Times New Roman"/>
                <a:cs typeface="Times New Roman"/>
              </a:rPr>
              <a:t> </a:t>
            </a:r>
            <a:r>
              <a:rPr spc="-50" dirty="0"/>
              <a:t>a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launch</a:t>
            </a:r>
            <a:r>
              <a:rPr spc="-275" dirty="0">
                <a:latin typeface="Times New Roman"/>
                <a:cs typeface="Times New Roman"/>
              </a:rPr>
              <a:t> </a:t>
            </a:r>
            <a:r>
              <a:rPr spc="-10" dirty="0"/>
              <a:t>site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10" dirty="0"/>
              <a:t>its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10" dirty="0"/>
              <a:t>proximities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80" y="1825688"/>
            <a:ext cx="7406512" cy="435127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#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25" dirty="0"/>
              <a:t>Create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245" dirty="0">
                <a:latin typeface="Times New Roman"/>
                <a:cs typeface="Times New Roman"/>
              </a:rPr>
              <a:t> </a:t>
            </a:r>
            <a:r>
              <a:rPr spc="-25" dirty="0"/>
              <a:t>marker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distance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spc="-10" dirty="0"/>
              <a:t>to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closest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70" dirty="0"/>
              <a:t>city,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65" dirty="0"/>
              <a:t>railway,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spc="-40" dirty="0"/>
              <a:t>highway,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spc="-20" dirty="0"/>
              <a:t>etc.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71"/>
            <a:ext cx="10215880" cy="1988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  <a:tab pos="2633980" algn="l"/>
                <a:tab pos="3469004" algn="l"/>
                <a:tab pos="5445760" algn="l"/>
                <a:tab pos="7384415" algn="l"/>
                <a:tab pos="8773160" algn="l"/>
              </a:tabLst>
            </a:pPr>
            <a:r>
              <a:rPr sz="2800" dirty="0">
                <a:latin typeface="Aptos"/>
                <a:cs typeface="Aptos"/>
              </a:rPr>
              <a:t>#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1.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Define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locations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(Latitude,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Longitude)locations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{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Aptos"/>
                <a:cs typeface="Aptos"/>
              </a:rPr>
              <a:t>"Point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ptos"/>
                <a:cs typeface="Aptos"/>
              </a:rPr>
              <a:t>A":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(40.7128,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Aptos"/>
                <a:cs typeface="Aptos"/>
              </a:rPr>
              <a:t>-</a:t>
            </a:r>
            <a:r>
              <a:rPr sz="2800" spc="-10" dirty="0">
                <a:latin typeface="Aptos"/>
                <a:cs typeface="Aptos"/>
              </a:rPr>
              <a:t>74.0060),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Aptos"/>
                <a:cs typeface="Aptos"/>
              </a:rPr>
              <a:t>#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New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York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Aptos"/>
                <a:cs typeface="Aptos"/>
              </a:rPr>
              <a:t>"Point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ptos"/>
                <a:cs typeface="Aptos"/>
              </a:rPr>
              <a:t>B":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(34.0522,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35" dirty="0">
                <a:latin typeface="Aptos"/>
                <a:cs typeface="Aptos"/>
              </a:rPr>
              <a:t>-</a:t>
            </a:r>
            <a:r>
              <a:rPr sz="2800" spc="-10" dirty="0">
                <a:latin typeface="Aptos"/>
                <a:cs typeface="Aptos"/>
              </a:rPr>
              <a:t>118.2437),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#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Los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Angeles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30" dirty="0">
                <a:latin typeface="Aptos"/>
                <a:cs typeface="Aptos"/>
              </a:rPr>
              <a:t>"Point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C":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(41.8781,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-</a:t>
            </a:r>
            <a:r>
              <a:rPr sz="2800" spc="-10" dirty="0">
                <a:latin typeface="Aptos"/>
                <a:cs typeface="Aptos"/>
              </a:rPr>
              <a:t>87.6298)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Aptos"/>
                <a:cs typeface="Aptos"/>
              </a:rPr>
              <a:t>#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Chicago}#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Initialize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the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Folium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Mapm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ptos"/>
                <a:cs typeface="Aptos"/>
              </a:rPr>
              <a:t>=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ptos"/>
                <a:cs typeface="Aptos"/>
              </a:rPr>
              <a:t>folium.Map(location=[39.8283,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Aptos"/>
                <a:cs typeface="Aptos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98.5795],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ptos"/>
                <a:cs typeface="Aptos"/>
              </a:rPr>
              <a:t>zoom_start=4)</a:t>
            </a:r>
            <a:endParaRPr sz="2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854265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#</a:t>
            </a:r>
            <a:r>
              <a:rPr spc="-235" dirty="0">
                <a:latin typeface="Times New Roman"/>
                <a:cs typeface="Times New Roman"/>
              </a:rPr>
              <a:t> </a:t>
            </a:r>
            <a:r>
              <a:rPr spc="-10" dirty="0"/>
              <a:t>Geocoding:</a:t>
            </a:r>
            <a:r>
              <a:rPr spc="-225" dirty="0">
                <a:latin typeface="Times New Roman"/>
                <a:cs typeface="Times New Roman"/>
              </a:rPr>
              <a:t> </a:t>
            </a:r>
            <a:r>
              <a:rPr dirty="0"/>
              <a:t>Get</a:t>
            </a:r>
            <a:r>
              <a:rPr spc="-225" dirty="0">
                <a:latin typeface="Times New Roman"/>
                <a:cs typeface="Times New Roman"/>
              </a:rPr>
              <a:t> </a:t>
            </a:r>
            <a:r>
              <a:rPr spc="-20" dirty="0"/>
              <a:t>coordinates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20" dirty="0"/>
              <a:t>from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spc="-25" dirty="0"/>
              <a:t>an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/>
              <a:t>address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pc="-20" dirty="0"/>
              <a:t>location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/>
              <a:t>=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20" dirty="0"/>
              <a:t>coordinates.geocode("Houston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65" dirty="0"/>
              <a:t>Texas,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/>
              <a:t>Clear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20" dirty="0"/>
              <a:t>Lake</a:t>
            </a:r>
          </a:p>
          <a:p>
            <a:pPr marL="241300">
              <a:lnSpc>
                <a:spcPts val="1850"/>
              </a:lnSpc>
            </a:pPr>
            <a:r>
              <a:rPr spc="-10" dirty="0"/>
              <a:t>Area")print(f"Coordinates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dirty="0"/>
              <a:t>: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20" dirty="0"/>
              <a:t>(l29.559684888503615,-95.0830971930759)")#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10" dirty="0"/>
              <a:t>Reverse</a:t>
            </a:r>
          </a:p>
          <a:p>
            <a:pPr marL="241300">
              <a:lnSpc>
                <a:spcPts val="1850"/>
              </a:lnSpc>
            </a:pPr>
            <a:r>
              <a:rPr spc="-10" dirty="0"/>
              <a:t>Geocoding: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/>
              <a:t>Get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10" dirty="0"/>
              <a:t>address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25" dirty="0"/>
              <a:t>from</a:t>
            </a:r>
            <a:r>
              <a:rPr spc="-130" dirty="0">
                <a:latin typeface="Times New Roman"/>
                <a:cs typeface="Times New Roman"/>
              </a:rPr>
              <a:t> </a:t>
            </a:r>
            <a:r>
              <a:rPr spc="-20" dirty="0"/>
              <a:t>coordinatesreverse_location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50" dirty="0"/>
              <a:t>=</a:t>
            </a:r>
          </a:p>
          <a:p>
            <a:pPr marL="241300">
              <a:lnSpc>
                <a:spcPts val="1850"/>
              </a:lnSpc>
            </a:pPr>
            <a:r>
              <a:rPr spc="-25" dirty="0"/>
              <a:t>geolocator.reverse(f"Coordinates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dirty="0"/>
              <a:t>: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50" dirty="0"/>
              <a:t>-</a:t>
            </a:r>
          </a:p>
          <a:p>
            <a:pPr marL="241300">
              <a:lnSpc>
                <a:spcPts val="1850"/>
              </a:lnSpc>
            </a:pPr>
            <a:r>
              <a:rPr spc="-10" dirty="0"/>
              <a:t>95.0830971930759,l29.559684888503615)")print(f"Reverse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10" dirty="0"/>
              <a:t>Address:</a:t>
            </a:r>
          </a:p>
          <a:p>
            <a:pPr marL="241300">
              <a:lnSpc>
                <a:spcPts val="1850"/>
              </a:lnSpc>
            </a:pPr>
            <a:r>
              <a:rPr spc="-20" dirty="0"/>
              <a:t>{reverse_location.address}")#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20" dirty="0"/>
              <a:t>Process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/>
              <a:t>each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20" dirty="0"/>
              <a:t>markercoords_list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50" dirty="0"/>
              <a:t>=</a:t>
            </a:r>
          </a:p>
          <a:p>
            <a:pPr marL="241300">
              <a:lnSpc>
                <a:spcPts val="1850"/>
              </a:lnSpc>
            </a:pPr>
            <a:r>
              <a:rPr spc="-20" dirty="0"/>
              <a:t>list(locations.values())names_list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=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20" dirty="0"/>
              <a:t>list(locations.keys())for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i,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20" dirty="0"/>
              <a:t>(name,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/>
              <a:t>point)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25" dirty="0"/>
              <a:t>in</a:t>
            </a:r>
          </a:p>
          <a:p>
            <a:pPr marL="240665">
              <a:lnSpc>
                <a:spcPts val="2245"/>
              </a:lnSpc>
            </a:pPr>
            <a:r>
              <a:rPr spc="-20" dirty="0"/>
              <a:t>enumerate(locations.items()):#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20" dirty="0"/>
              <a:t>Calculate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10" dirty="0"/>
              <a:t>distance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/>
              <a:t>to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/>
              <a:t>the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10" dirty="0"/>
              <a:t>closest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25" dirty="0"/>
              <a:t>proximity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" dirty="0"/>
              <a:t>point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538" y="3635119"/>
            <a:ext cx="48698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0" algn="l"/>
              </a:tabLst>
            </a:pPr>
            <a:r>
              <a:rPr sz="2200" spc="-10" dirty="0">
                <a:latin typeface="Aptos"/>
                <a:cs typeface="Aptos"/>
              </a:rPr>
              <a:t>min_dist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=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float('inf')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closest_name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=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Aptos"/>
                <a:cs typeface="Aptos"/>
              </a:rPr>
              <a:t>""</a:t>
            </a:r>
            <a:endParaRPr sz="220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86" y="3635119"/>
            <a:ext cx="22847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ptos"/>
                <a:cs typeface="Aptos"/>
              </a:rPr>
              <a:t>for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j,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other_point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Aptos"/>
                <a:cs typeface="Aptos"/>
              </a:rPr>
              <a:t>in</a:t>
            </a:r>
            <a:endParaRPr sz="22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538" y="3869816"/>
            <a:ext cx="29070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ptos"/>
                <a:cs typeface="Aptos"/>
              </a:rPr>
              <a:t>enumerate(coords_list):</a:t>
            </a:r>
            <a:endParaRPr sz="2200">
              <a:latin typeface="Aptos"/>
              <a:cs typeface="Apto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0696" y="3869816"/>
            <a:ext cx="62560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ptos"/>
                <a:cs typeface="Aptos"/>
              </a:rPr>
              <a:t>if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i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==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j: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continue</a:t>
            </a:r>
            <a:r>
              <a:rPr sz="2200" spc="3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#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Skip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comparing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the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point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to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itself</a:t>
            </a:r>
            <a:endParaRPr sz="2200">
              <a:latin typeface="Aptos"/>
              <a:cs typeface="Apto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5538" y="4104514"/>
            <a:ext cx="527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ptos"/>
                <a:cs typeface="Aptos"/>
              </a:rPr>
              <a:t>#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Calculate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geodesic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distance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in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kilometers</a:t>
            </a:r>
            <a:endParaRPr sz="2200">
              <a:latin typeface="Aptos"/>
              <a:cs typeface="Apto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3573" y="4104514"/>
            <a:ext cx="43770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15565" algn="l"/>
              </a:tabLst>
            </a:pPr>
            <a:r>
              <a:rPr sz="2200" spc="-10" dirty="0">
                <a:latin typeface="Aptos"/>
                <a:cs typeface="Aptos"/>
              </a:rPr>
              <a:t>if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dist&lt;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min_dist: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min_dist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=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Aptos"/>
                <a:cs typeface="Aptos"/>
              </a:rPr>
              <a:t>dist</a:t>
            </a:r>
            <a:endParaRPr sz="2200">
              <a:latin typeface="Aptos"/>
              <a:cs typeface="Apt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1" y="4339211"/>
            <a:ext cx="9832975" cy="1299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45"/>
              </a:lnSpc>
              <a:spcBef>
                <a:spcPts val="95"/>
              </a:spcBef>
            </a:pPr>
            <a:r>
              <a:rPr sz="2200" spc="-10" dirty="0">
                <a:latin typeface="Aptos"/>
                <a:cs typeface="Aptos"/>
              </a:rPr>
              <a:t>closest_name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=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names_list[j]#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Aptos"/>
                <a:cs typeface="Aptos"/>
              </a:rPr>
              <a:t>Create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Aptos"/>
                <a:cs typeface="Aptos"/>
              </a:rPr>
              <a:t>Marker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with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distance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info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in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the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popup</a:t>
            </a:r>
            <a:endParaRPr sz="2200">
              <a:latin typeface="Aptos"/>
              <a:cs typeface="Aptos"/>
            </a:endParaRPr>
          </a:p>
          <a:p>
            <a:pPr marL="12700">
              <a:lnSpc>
                <a:spcPts val="1850"/>
              </a:lnSpc>
            </a:pPr>
            <a:r>
              <a:rPr sz="2200" spc="-20" dirty="0">
                <a:latin typeface="Aptos"/>
                <a:cs typeface="Aptos"/>
              </a:rPr>
              <a:t>popup_text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=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f"{name}&lt;br&gt;Closest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ptos"/>
                <a:cs typeface="Aptos"/>
              </a:rPr>
              <a:t>to: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{closest_name}&lt;br&gt;Distance: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{min_dist:.2f}</a:t>
            </a:r>
            <a:endParaRPr sz="2200">
              <a:latin typeface="Aptos"/>
              <a:cs typeface="Aptos"/>
            </a:endParaRPr>
          </a:p>
          <a:p>
            <a:pPr marL="12700">
              <a:lnSpc>
                <a:spcPts val="1850"/>
              </a:lnSpc>
              <a:tabLst>
                <a:tab pos="720090" algn="l"/>
                <a:tab pos="2940050" algn="l"/>
                <a:tab pos="5232400" algn="l"/>
              </a:tabLst>
            </a:pPr>
            <a:r>
              <a:rPr sz="2200" spc="-25" dirty="0">
                <a:latin typeface="Aptos"/>
                <a:cs typeface="Aptos"/>
              </a:rPr>
              <a:t>km"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folium.Marker(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location=point,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popup=folium.Popup(popup_text,</a:t>
            </a:r>
            <a:endParaRPr sz="2200">
              <a:latin typeface="Aptos"/>
              <a:cs typeface="Aptos"/>
            </a:endParaRPr>
          </a:p>
          <a:p>
            <a:pPr marL="12700" marR="718185">
              <a:lnSpc>
                <a:spcPct val="70000"/>
              </a:lnSpc>
              <a:spcBef>
                <a:spcPts val="395"/>
              </a:spcBef>
              <a:tabLst>
                <a:tab pos="2536190" algn="l"/>
                <a:tab pos="6612890" algn="l"/>
              </a:tabLst>
            </a:pPr>
            <a:r>
              <a:rPr sz="2200" spc="-10" dirty="0">
                <a:latin typeface="Aptos"/>
                <a:cs typeface="Aptos"/>
              </a:rPr>
              <a:t>max_width=300),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tooltip=f"Click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for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distance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info"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Aptos"/>
                <a:cs typeface="Aptos"/>
              </a:rPr>
              <a:t>).add_to(m)#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Save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Aptos"/>
                <a:cs typeface="Aptos"/>
              </a:rPr>
              <a:t>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Aptos"/>
                <a:cs typeface="Aptos"/>
              </a:rPr>
              <a:t>displaym.save("proximity_map.html")</a:t>
            </a:r>
            <a:endParaRPr sz="2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1655775"/>
            <a:ext cx="8399145" cy="23139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481965" marR="467359" algn="ctr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Plotly</a:t>
            </a:r>
            <a:r>
              <a:rPr sz="6000" spc="-345" dirty="0">
                <a:latin typeface="Times New Roman"/>
                <a:cs typeface="Times New Roman"/>
              </a:rPr>
              <a:t> </a:t>
            </a:r>
            <a:r>
              <a:rPr sz="6000" spc="-10" dirty="0"/>
              <a:t>dashboard</a:t>
            </a:r>
            <a:r>
              <a:rPr sz="6000" spc="-345" dirty="0">
                <a:latin typeface="Times New Roman"/>
                <a:cs typeface="Times New Roman"/>
              </a:rPr>
              <a:t> </a:t>
            </a:r>
            <a:r>
              <a:rPr sz="6000" spc="-10" dirty="0"/>
              <a:t>results</a:t>
            </a:r>
            <a:r>
              <a:rPr sz="6000" spc="-10" dirty="0">
                <a:latin typeface="Times New Roman"/>
                <a:cs typeface="Times New Roman"/>
              </a:rPr>
              <a:t> </a:t>
            </a:r>
            <a:r>
              <a:rPr sz="6000" spc="-10" dirty="0"/>
              <a:t>Slide</a:t>
            </a:r>
            <a:endParaRPr sz="6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2400" dirty="0">
                <a:latin typeface="Aptos"/>
                <a:cs typeface="Aptos"/>
              </a:rPr>
              <a:t>Hands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on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Lab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build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in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an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ptos"/>
                <a:cs typeface="Aptos"/>
              </a:rPr>
              <a:t>Interactive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Dashboard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with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Plotly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ptos"/>
                <a:cs typeface="Aptos"/>
              </a:rPr>
              <a:t>Dash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50355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Total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Launches</a:t>
            </a:r>
            <a:r>
              <a:rPr spc="-260" dirty="0">
                <a:latin typeface="Times New Roman"/>
                <a:cs typeface="Times New Roman"/>
              </a:rPr>
              <a:t> </a:t>
            </a:r>
            <a:r>
              <a:rPr spc="-35" dirty="0"/>
              <a:t>by</a:t>
            </a:r>
            <a:r>
              <a:rPr spc="-220" dirty="0">
                <a:latin typeface="Times New Roman"/>
                <a:cs typeface="Times New Roman"/>
              </a:rPr>
              <a:t> </a:t>
            </a:r>
            <a:r>
              <a:rPr spc="-20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187" y="3066864"/>
            <a:ext cx="10482618" cy="187441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0758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Total</a:t>
            </a:r>
            <a:r>
              <a:rPr spc="-254" dirty="0">
                <a:latin typeface="Times New Roman"/>
                <a:cs typeface="Times New Roman"/>
              </a:rPr>
              <a:t> </a:t>
            </a:r>
            <a:r>
              <a:rPr dirty="0"/>
              <a:t>Success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dirty="0"/>
              <a:t>Launches</a:t>
            </a:r>
            <a:r>
              <a:rPr spc="-270" dirty="0">
                <a:latin typeface="Times New Roman"/>
                <a:cs typeface="Times New Roman"/>
              </a:rPr>
              <a:t> </a:t>
            </a:r>
            <a:r>
              <a:rPr spc="-20" dirty="0"/>
              <a:t>by</a:t>
            </a:r>
            <a:r>
              <a:rPr spc="-220" dirty="0">
                <a:latin typeface="Times New Roman"/>
                <a:cs typeface="Times New Roman"/>
              </a:rPr>
              <a:t> </a:t>
            </a:r>
            <a:r>
              <a:rPr spc="-20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187" y="3066864"/>
            <a:ext cx="10482618" cy="187441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538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Correlation</a:t>
            </a:r>
            <a:r>
              <a:rPr spc="-280" dirty="0">
                <a:latin typeface="Times New Roman"/>
                <a:cs typeface="Times New Roman"/>
              </a:rPr>
              <a:t> </a:t>
            </a:r>
            <a:r>
              <a:rPr spc="-10" dirty="0"/>
              <a:t>between</a:t>
            </a:r>
            <a:r>
              <a:rPr spc="-215" dirty="0">
                <a:latin typeface="Times New Roman"/>
                <a:cs typeface="Times New Roman"/>
              </a:rPr>
              <a:t> </a:t>
            </a:r>
            <a:r>
              <a:rPr spc="-30" dirty="0"/>
              <a:t>Payload</a:t>
            </a:r>
            <a:r>
              <a:rPr spc="-275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-229" dirty="0">
                <a:latin typeface="Times New Roman"/>
                <a:cs typeface="Times New Roman"/>
              </a:rPr>
              <a:t> </a:t>
            </a:r>
            <a:r>
              <a:rPr dirty="0"/>
              <a:t>Success</a:t>
            </a:r>
            <a:r>
              <a:rPr spc="-250" dirty="0">
                <a:latin typeface="Times New Roman"/>
                <a:cs typeface="Times New Roman"/>
              </a:rPr>
              <a:t> </a:t>
            </a:r>
            <a:r>
              <a:rPr spc="-25" dirty="0"/>
              <a:t>for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/>
              <a:t>all</a:t>
            </a:r>
            <a:r>
              <a:rPr spc="-265" dirty="0">
                <a:latin typeface="Times New Roman"/>
                <a:cs typeface="Times New Roman"/>
              </a:rPr>
              <a:t> </a:t>
            </a:r>
            <a:r>
              <a:rPr spc="-10" dirty="0"/>
              <a:t>sites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216" y="2933780"/>
            <a:ext cx="10455070" cy="212958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7260" y="1655775"/>
            <a:ext cx="8778875" cy="231394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indent="635" algn="ctr">
              <a:lnSpc>
                <a:spcPts val="6480"/>
              </a:lnSpc>
              <a:spcBef>
                <a:spcPts val="915"/>
              </a:spcBef>
            </a:pPr>
            <a:r>
              <a:rPr sz="6000" spc="-30" dirty="0"/>
              <a:t>Predictive</a:t>
            </a:r>
            <a:r>
              <a:rPr sz="6000" spc="-305" dirty="0">
                <a:latin typeface="Times New Roman"/>
                <a:cs typeface="Times New Roman"/>
              </a:rPr>
              <a:t> </a:t>
            </a:r>
            <a:r>
              <a:rPr sz="6000" spc="-10" dirty="0"/>
              <a:t>analysis</a:t>
            </a:r>
            <a:r>
              <a:rPr sz="6000" spc="-10" dirty="0">
                <a:latin typeface="Times New Roman"/>
                <a:cs typeface="Times New Roman"/>
              </a:rPr>
              <a:t> </a:t>
            </a:r>
            <a:r>
              <a:rPr sz="6000" spc="-10" dirty="0"/>
              <a:t>(classification)</a:t>
            </a:r>
            <a:r>
              <a:rPr sz="6000" spc="-340" dirty="0">
                <a:latin typeface="Times New Roman"/>
                <a:cs typeface="Times New Roman"/>
              </a:rPr>
              <a:t> </a:t>
            </a:r>
            <a:r>
              <a:rPr sz="6000" spc="-20" dirty="0"/>
              <a:t>results</a:t>
            </a:r>
            <a:r>
              <a:rPr sz="6000" spc="-330" dirty="0">
                <a:latin typeface="Times New Roman"/>
                <a:cs typeface="Times New Roman"/>
              </a:rPr>
              <a:t> </a:t>
            </a:r>
            <a:r>
              <a:rPr sz="6000" spc="-10" dirty="0"/>
              <a:t>slides</a:t>
            </a:r>
            <a:endParaRPr sz="6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2400" spc="-10" dirty="0">
                <a:latin typeface="Aptos"/>
                <a:cs typeface="Aptos"/>
              </a:rPr>
              <a:t>Predictive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ptos"/>
                <a:cs typeface="Aptos"/>
              </a:rPr>
              <a:t>analysis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(classification)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results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ptos"/>
                <a:cs typeface="Aptos"/>
              </a:rPr>
              <a:t>slides</a:t>
            </a:r>
            <a:endParaRPr sz="24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4006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Load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20" dirty="0"/>
              <a:t>the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10" dirty="0"/>
              <a:t>dataframe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342390"/>
            <a:ext cx="2814955" cy="17938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20" dirty="0">
                <a:latin typeface="Aptos Display"/>
                <a:cs typeface="Aptos Display"/>
              </a:rPr>
              <a:t>Load</a:t>
            </a:r>
            <a:r>
              <a:rPr sz="4000" spc="-229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Aptos Display"/>
                <a:cs typeface="Aptos Display"/>
              </a:rPr>
              <a:t>the</a:t>
            </a:r>
            <a:r>
              <a:rPr sz="4000" spc="-22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Aptos Display"/>
                <a:cs typeface="Aptos Display"/>
              </a:rPr>
              <a:t>data</a:t>
            </a:r>
            <a:r>
              <a:rPr sz="4000" spc="-2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Aptos Display"/>
                <a:cs typeface="Aptos Display"/>
              </a:rPr>
              <a:t>data.head()</a:t>
            </a:r>
            <a:endParaRPr sz="4000">
              <a:latin typeface="Aptos Display"/>
              <a:cs typeface="Aptos Display"/>
            </a:endParaRPr>
          </a:p>
          <a:p>
            <a:pPr marL="483234">
              <a:lnSpc>
                <a:spcPct val="100000"/>
              </a:lnSpc>
              <a:spcBef>
                <a:spcPts val="3784"/>
              </a:spcBef>
            </a:pPr>
            <a:r>
              <a:rPr sz="800" b="1" spc="-10" dirty="0">
                <a:latin typeface="Aptos"/>
                <a:cs typeface="Aptos"/>
              </a:rPr>
              <a:t>FlightNu</a:t>
            </a:r>
            <a:endParaRPr sz="8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7810" y="2110232"/>
            <a:ext cx="271145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51865" algn="l"/>
                <a:tab pos="1480185" algn="l"/>
                <a:tab pos="2607310" algn="l"/>
              </a:tabLst>
            </a:pPr>
            <a:r>
              <a:rPr sz="800" b="1" spc="-20" dirty="0">
                <a:latin typeface="Aptos"/>
                <a:cs typeface="Aptos"/>
              </a:rPr>
              <a:t>mber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b="1" spc="-10" dirty="0">
                <a:latin typeface="Aptos"/>
                <a:cs typeface="Aptos"/>
              </a:rPr>
              <a:t>ersion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b="1" spc="-20" dirty="0">
                <a:latin typeface="Aptos"/>
                <a:cs typeface="Aptos"/>
              </a:rPr>
              <a:t>Mass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b="1" spc="-25" dirty="0">
                <a:latin typeface="Aptos"/>
                <a:cs typeface="Aptos"/>
              </a:rPr>
              <a:t>te</a:t>
            </a:r>
            <a:endParaRPr sz="80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6533" y="1988312"/>
            <a:ext cx="276669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902335" algn="l"/>
                <a:tab pos="1521460" algn="l"/>
              </a:tabLst>
            </a:pPr>
            <a:r>
              <a:rPr sz="1200" b="1" baseline="-34722" dirty="0">
                <a:latin typeface="Aptos"/>
                <a:cs typeface="Aptos"/>
              </a:rPr>
              <a:t>Date</a:t>
            </a:r>
            <a:r>
              <a:rPr sz="1200" spc="697" baseline="-34722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Aptos"/>
                <a:cs typeface="Aptos"/>
              </a:rPr>
              <a:t>BoosterV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b="1" spc="-10" dirty="0">
                <a:latin typeface="Aptos"/>
                <a:cs typeface="Aptos"/>
              </a:rPr>
              <a:t>Payload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1200" b="1" baseline="-34722" dirty="0">
                <a:latin typeface="Aptos"/>
                <a:cs typeface="Aptos"/>
              </a:rPr>
              <a:t>Orbit</a:t>
            </a:r>
            <a:r>
              <a:rPr sz="1200" spc="644" baseline="-34722" dirty="0">
                <a:latin typeface="Times New Roman"/>
                <a:cs typeface="Times New Roman"/>
              </a:rPr>
              <a:t> </a:t>
            </a:r>
            <a:r>
              <a:rPr sz="800" b="1" dirty="0">
                <a:latin typeface="Aptos"/>
                <a:cs typeface="Aptos"/>
              </a:rPr>
              <a:t>LaunchSi</a:t>
            </a:r>
            <a:r>
              <a:rPr sz="800" spc="275" dirty="0">
                <a:latin typeface="Times New Roman"/>
                <a:cs typeface="Times New Roman"/>
              </a:rPr>
              <a:t>  </a:t>
            </a:r>
            <a:r>
              <a:rPr sz="800" b="1" spc="-10" dirty="0">
                <a:latin typeface="Aptos"/>
                <a:cs typeface="Aptos"/>
              </a:rPr>
              <a:t>Outcom</a:t>
            </a:r>
            <a:endParaRPr sz="800">
              <a:latin typeface="Aptos"/>
              <a:cs typeface="Aptos"/>
            </a:endParaRPr>
          </a:p>
          <a:p>
            <a:pPr marR="31115" algn="r">
              <a:lnSpc>
                <a:spcPct val="100000"/>
              </a:lnSpc>
            </a:pPr>
            <a:r>
              <a:rPr sz="800" b="1" dirty="0">
                <a:latin typeface="Aptos"/>
                <a:cs typeface="Aptos"/>
              </a:rPr>
              <a:t>e</a:t>
            </a:r>
            <a:endParaRPr sz="8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4579" y="2049272"/>
            <a:ext cx="32194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Flights</a:t>
            </a:r>
            <a:endParaRPr sz="800">
              <a:latin typeface="Aptos"/>
              <a:cs typeface="Apto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7838" y="2049272"/>
            <a:ext cx="39814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GridFins</a:t>
            </a:r>
            <a:endParaRPr sz="800">
              <a:latin typeface="Aptos"/>
              <a:cs typeface="Apto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2728" y="2049272"/>
            <a:ext cx="3632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Reused</a:t>
            </a:r>
            <a:endParaRPr sz="800">
              <a:latin typeface="Aptos"/>
              <a:cs typeface="Apto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7978" y="1988312"/>
            <a:ext cx="77279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b="1" baseline="-34722" dirty="0">
                <a:latin typeface="Aptos"/>
                <a:cs typeface="Aptos"/>
              </a:rPr>
              <a:t>Legs</a:t>
            </a:r>
            <a:r>
              <a:rPr sz="1200" spc="675" baseline="-34722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Aptos"/>
                <a:cs typeface="Aptos"/>
              </a:rPr>
              <a:t>LandingP</a:t>
            </a:r>
            <a:endParaRPr sz="800">
              <a:latin typeface="Aptos"/>
              <a:cs typeface="Apt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4530" y="2110232"/>
            <a:ext cx="14160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5" dirty="0">
                <a:latin typeface="Aptos"/>
                <a:cs typeface="Aptos"/>
              </a:rPr>
              <a:t>ad</a:t>
            </a:r>
            <a:endParaRPr sz="800">
              <a:latin typeface="Aptos"/>
              <a:cs typeface="Apto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63079" y="1988312"/>
            <a:ext cx="8178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b="1" baseline="-34722" dirty="0">
                <a:latin typeface="Aptos"/>
                <a:cs typeface="Aptos"/>
              </a:rPr>
              <a:t>Block</a:t>
            </a:r>
            <a:r>
              <a:rPr sz="1200" spc="697" baseline="-34722" dirty="0">
                <a:latin typeface="Times New Roman"/>
                <a:cs typeface="Times New Roman"/>
              </a:rPr>
              <a:t> </a:t>
            </a:r>
            <a:r>
              <a:rPr sz="800" b="1" spc="-10" dirty="0">
                <a:latin typeface="Aptos"/>
                <a:cs typeface="Aptos"/>
              </a:rPr>
              <a:t>ReusedC</a:t>
            </a:r>
            <a:endParaRPr sz="800">
              <a:latin typeface="Aptos"/>
              <a:cs typeface="Apto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4038" y="2110232"/>
            <a:ext cx="230504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latin typeface="Aptos"/>
                <a:cs typeface="Aptos"/>
              </a:rPr>
              <a:t>ount</a:t>
            </a:r>
            <a:endParaRPr sz="800">
              <a:latin typeface="Aptos"/>
              <a:cs typeface="Apt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64728" y="2049272"/>
            <a:ext cx="2787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Serial</a:t>
            </a:r>
            <a:endParaRPr sz="800">
              <a:latin typeface="Aptos"/>
              <a:cs typeface="Apto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21979" y="1988312"/>
            <a:ext cx="41148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Longitud</a:t>
            </a:r>
            <a:endParaRPr sz="800">
              <a:latin typeface="Aptos"/>
              <a:cs typeface="Aptos"/>
            </a:endParaRPr>
          </a:p>
          <a:p>
            <a:pPr marR="5080" algn="r">
              <a:lnSpc>
                <a:spcPct val="100000"/>
              </a:lnSpc>
            </a:pPr>
            <a:r>
              <a:rPr sz="800" b="1" dirty="0">
                <a:latin typeface="Aptos"/>
                <a:cs typeface="Aptos"/>
              </a:rPr>
              <a:t>e</a:t>
            </a:r>
            <a:endParaRPr sz="800">
              <a:latin typeface="Aptos"/>
              <a:cs typeface="Apto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29725" y="2049272"/>
            <a:ext cx="3930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Latitude</a:t>
            </a:r>
            <a:endParaRPr sz="800">
              <a:latin typeface="Aptos"/>
              <a:cs typeface="Apto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33864" y="2049272"/>
            <a:ext cx="279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10" dirty="0">
                <a:latin typeface="Aptos"/>
                <a:cs typeface="Aptos"/>
              </a:rPr>
              <a:t>Class</a:t>
            </a:r>
            <a:endParaRPr sz="800">
              <a:latin typeface="Aptos"/>
              <a:cs typeface="Apto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8083" y="2754630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latin typeface="Aptos"/>
                <a:cs typeface="Aptos"/>
              </a:rPr>
              <a:t>0</a:t>
            </a:r>
            <a:endParaRPr sz="800">
              <a:latin typeface="Aptos"/>
              <a:cs typeface="Apto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9166" y="2754630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1</a:t>
            </a:r>
            <a:endParaRPr sz="800">
              <a:latin typeface="Aptos"/>
              <a:cs typeface="Apto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5977" y="2693670"/>
            <a:ext cx="42354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2010-</a:t>
            </a:r>
            <a:r>
              <a:rPr sz="800" spc="-25" dirty="0">
                <a:latin typeface="Aptos"/>
                <a:cs typeface="Aptos"/>
              </a:rPr>
              <a:t>06-</a:t>
            </a:r>
            <a:endParaRPr sz="800">
              <a:latin typeface="Aptos"/>
              <a:cs typeface="Aptos"/>
            </a:endParaRPr>
          </a:p>
          <a:p>
            <a:pPr marR="5080" algn="r">
              <a:lnSpc>
                <a:spcPct val="100000"/>
              </a:lnSpc>
            </a:pPr>
            <a:r>
              <a:rPr sz="800" spc="-25" dirty="0">
                <a:latin typeface="Aptos"/>
                <a:cs typeface="Aptos"/>
              </a:rPr>
              <a:t>04</a:t>
            </a:r>
            <a:endParaRPr sz="800">
              <a:latin typeface="Aptos"/>
              <a:cs typeface="Apto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43023" y="2693670"/>
            <a:ext cx="94170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spc="-15" baseline="-34722" dirty="0">
                <a:latin typeface="Aptos"/>
                <a:cs typeface="Aptos"/>
              </a:rPr>
              <a:t>Falcon</a:t>
            </a:r>
            <a:r>
              <a:rPr sz="1200" spc="-60" baseline="-34722" dirty="0">
                <a:latin typeface="Times New Roman"/>
                <a:cs typeface="Times New Roman"/>
              </a:rPr>
              <a:t> </a:t>
            </a:r>
            <a:r>
              <a:rPr sz="1200" baseline="-34722" dirty="0">
                <a:latin typeface="Aptos"/>
                <a:cs typeface="Aptos"/>
              </a:rPr>
              <a:t>9</a:t>
            </a:r>
            <a:r>
              <a:rPr sz="1200" spc="727" baseline="-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6104.959</a:t>
            </a:r>
            <a:endParaRPr sz="800">
              <a:latin typeface="Aptos"/>
              <a:cs typeface="Apto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8573" y="2815589"/>
            <a:ext cx="1905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412</a:t>
            </a:r>
            <a:endParaRPr sz="800">
              <a:latin typeface="Aptos"/>
              <a:cs typeface="Apto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41267" y="2754630"/>
            <a:ext cx="207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LEO</a:t>
            </a:r>
            <a:endParaRPr sz="800">
              <a:latin typeface="Aptos"/>
              <a:cs typeface="Apto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1566" y="2693670"/>
            <a:ext cx="3365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CCAFS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SLC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35" dirty="0">
                <a:latin typeface="Aptos"/>
                <a:cs typeface="Aptos"/>
              </a:rPr>
              <a:t>40</a:t>
            </a:r>
            <a:endParaRPr sz="800">
              <a:latin typeface="Aptos"/>
              <a:cs typeface="Apto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64177" y="2693670"/>
            <a:ext cx="26352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latin typeface="Aptos"/>
                <a:cs typeface="Aptos"/>
              </a:rPr>
              <a:t>None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20" dirty="0">
                <a:latin typeface="Aptos"/>
                <a:cs typeface="Aptos"/>
              </a:rPr>
              <a:t>None</a:t>
            </a:r>
            <a:endParaRPr sz="800">
              <a:latin typeface="Aptos"/>
              <a:cs typeface="Apto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36896" y="2754630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1</a:t>
            </a:r>
            <a:endParaRPr sz="800">
              <a:latin typeface="Aptos"/>
              <a:cs typeface="Apto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43473" y="2754630"/>
            <a:ext cx="2635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endParaRPr sz="800">
              <a:latin typeface="Aptos"/>
              <a:cs typeface="Apto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33313" y="2754630"/>
            <a:ext cx="2635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endParaRPr sz="800">
              <a:latin typeface="Aptos"/>
              <a:cs typeface="Apto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22897" y="2754630"/>
            <a:ext cx="2635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endParaRPr sz="800">
              <a:latin typeface="Aptos"/>
              <a:cs typeface="Apto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52233" y="2754630"/>
            <a:ext cx="224154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NaN</a:t>
            </a:r>
            <a:endParaRPr sz="800">
              <a:latin typeface="Aptos"/>
              <a:cs typeface="Apto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01255" y="2754630"/>
            <a:ext cx="1644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1.0</a:t>
            </a:r>
            <a:endParaRPr sz="800">
              <a:latin typeface="Aptos"/>
              <a:cs typeface="Apto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74914" y="2754630"/>
            <a:ext cx="10604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263525" algn="l"/>
              </a:tabLst>
            </a:pPr>
            <a:r>
              <a:rPr sz="800" spc="-50" dirty="0">
                <a:latin typeface="Aptos"/>
                <a:cs typeface="Aptos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dirty="0">
                <a:latin typeface="Aptos"/>
                <a:cs typeface="Aptos"/>
              </a:rPr>
              <a:t>B0003</a:t>
            </a:r>
            <a:r>
              <a:rPr sz="800" spc="42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80.57736</a:t>
            </a:r>
            <a:endParaRPr sz="800">
              <a:latin typeface="Aptos"/>
              <a:cs typeface="Aptos"/>
            </a:endParaRPr>
          </a:p>
          <a:p>
            <a:pPr marR="5715" algn="r">
              <a:lnSpc>
                <a:spcPct val="100000"/>
              </a:lnSpc>
            </a:pPr>
            <a:r>
              <a:rPr sz="800" dirty="0">
                <a:latin typeface="Aptos"/>
                <a:cs typeface="Aptos"/>
              </a:rPr>
              <a:t>6</a:t>
            </a:r>
            <a:endParaRPr sz="800">
              <a:latin typeface="Aptos"/>
              <a:cs typeface="Apto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48622" y="2693670"/>
            <a:ext cx="6019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baseline="34722" dirty="0">
                <a:latin typeface="Aptos"/>
                <a:cs typeface="Aptos"/>
              </a:rPr>
              <a:t>-</a:t>
            </a:r>
            <a:r>
              <a:rPr sz="1200" spc="660" baseline="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28.56185</a:t>
            </a:r>
            <a:endParaRPr sz="800">
              <a:latin typeface="Aptos"/>
              <a:cs typeface="Apto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43666" y="2815589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7</a:t>
            </a:r>
            <a:endParaRPr sz="800">
              <a:latin typeface="Aptos"/>
              <a:cs typeface="Apto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33507" y="2754630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0</a:t>
            </a:r>
            <a:endParaRPr sz="800">
              <a:latin typeface="Aptos"/>
              <a:cs typeface="Apto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18083" y="3520185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dirty="0">
                <a:latin typeface="Aptos"/>
                <a:cs typeface="Aptos"/>
              </a:rPr>
              <a:t>1</a:t>
            </a:r>
            <a:endParaRPr sz="800">
              <a:latin typeface="Aptos"/>
              <a:cs typeface="Apto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09166" y="3520185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2</a:t>
            </a:r>
            <a:endParaRPr sz="800">
              <a:latin typeface="Aptos"/>
              <a:cs typeface="Apto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55977" y="3459226"/>
            <a:ext cx="42354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2012-</a:t>
            </a:r>
            <a:r>
              <a:rPr sz="800" spc="-25" dirty="0">
                <a:latin typeface="Aptos"/>
                <a:cs typeface="Aptos"/>
              </a:rPr>
              <a:t>05-</a:t>
            </a:r>
            <a:endParaRPr sz="800">
              <a:latin typeface="Aptos"/>
              <a:cs typeface="Aptos"/>
            </a:endParaRPr>
          </a:p>
          <a:p>
            <a:pPr marR="5080" algn="r">
              <a:lnSpc>
                <a:spcPct val="100000"/>
              </a:lnSpc>
            </a:pPr>
            <a:r>
              <a:rPr sz="800" spc="-25" dirty="0">
                <a:latin typeface="Aptos"/>
                <a:cs typeface="Aptos"/>
              </a:rPr>
              <a:t>22</a:t>
            </a:r>
            <a:endParaRPr sz="800">
              <a:latin typeface="Aptos"/>
              <a:cs typeface="Apto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43023" y="3459226"/>
            <a:ext cx="9423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spc="-15" baseline="-34722" dirty="0">
                <a:latin typeface="Aptos"/>
                <a:cs typeface="Aptos"/>
              </a:rPr>
              <a:t>Falcon</a:t>
            </a:r>
            <a:r>
              <a:rPr sz="1200" spc="-60" baseline="-34722" dirty="0">
                <a:latin typeface="Times New Roman"/>
                <a:cs typeface="Times New Roman"/>
              </a:rPr>
              <a:t> </a:t>
            </a:r>
            <a:r>
              <a:rPr sz="1200" baseline="-34722" dirty="0">
                <a:latin typeface="Aptos"/>
                <a:cs typeface="Aptos"/>
              </a:rPr>
              <a:t>9</a:t>
            </a:r>
            <a:r>
              <a:rPr sz="1200" spc="727" baseline="-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525.0000</a:t>
            </a:r>
            <a:endParaRPr sz="800">
              <a:latin typeface="Aptos"/>
              <a:cs typeface="Apto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23436" y="3581146"/>
            <a:ext cx="13525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00</a:t>
            </a:r>
            <a:endParaRPr sz="800">
              <a:latin typeface="Aptos"/>
              <a:cs typeface="Apto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41267" y="3520185"/>
            <a:ext cx="207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LEO</a:t>
            </a:r>
            <a:endParaRPr sz="800">
              <a:latin typeface="Aptos"/>
              <a:cs typeface="Apto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01566" y="3459226"/>
            <a:ext cx="3365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CCAFS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SLC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35" dirty="0">
                <a:latin typeface="Aptos"/>
                <a:cs typeface="Aptos"/>
              </a:rPr>
              <a:t>40</a:t>
            </a:r>
            <a:endParaRPr sz="800">
              <a:latin typeface="Aptos"/>
              <a:cs typeface="Apto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64177" y="3459226"/>
            <a:ext cx="26352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latin typeface="Aptos"/>
                <a:cs typeface="Aptos"/>
              </a:rPr>
              <a:t>None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20" dirty="0">
                <a:latin typeface="Aptos"/>
                <a:cs typeface="Aptos"/>
              </a:rPr>
              <a:t>None</a:t>
            </a:r>
            <a:endParaRPr sz="800">
              <a:latin typeface="Aptos"/>
              <a:cs typeface="Apto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36896" y="3520185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1</a:t>
            </a:r>
            <a:endParaRPr sz="800">
              <a:latin typeface="Aptos"/>
              <a:cs typeface="Apto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43473" y="3520185"/>
            <a:ext cx="2635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endParaRPr sz="800">
              <a:latin typeface="Aptos"/>
              <a:cs typeface="Apto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933313" y="3520185"/>
            <a:ext cx="2635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endParaRPr sz="800">
              <a:latin typeface="Aptos"/>
              <a:cs typeface="Apto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22897" y="3520185"/>
            <a:ext cx="2635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endParaRPr sz="800">
              <a:latin typeface="Aptos"/>
              <a:cs typeface="Apto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52233" y="3520185"/>
            <a:ext cx="224154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NaN</a:t>
            </a:r>
            <a:endParaRPr sz="800">
              <a:latin typeface="Aptos"/>
              <a:cs typeface="Apto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01255" y="3520185"/>
            <a:ext cx="16446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Aptos"/>
                <a:cs typeface="Aptos"/>
              </a:rPr>
              <a:t>1.0</a:t>
            </a:r>
            <a:endParaRPr sz="800">
              <a:latin typeface="Aptos"/>
              <a:cs typeface="Apto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74914" y="3520185"/>
            <a:ext cx="106045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263525" algn="l"/>
              </a:tabLst>
            </a:pPr>
            <a:r>
              <a:rPr sz="800" spc="-50" dirty="0">
                <a:latin typeface="Aptos"/>
                <a:cs typeface="Aptos"/>
              </a:rPr>
              <a:t>0</a:t>
            </a:r>
            <a:r>
              <a:rPr sz="800" dirty="0">
                <a:latin typeface="Times New Roman"/>
                <a:cs typeface="Times New Roman"/>
              </a:rPr>
              <a:t>	</a:t>
            </a:r>
            <a:r>
              <a:rPr sz="800" dirty="0">
                <a:latin typeface="Aptos"/>
                <a:cs typeface="Aptos"/>
              </a:rPr>
              <a:t>B0005</a:t>
            </a:r>
            <a:r>
              <a:rPr sz="800" spc="42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80.57736</a:t>
            </a:r>
            <a:endParaRPr sz="800">
              <a:latin typeface="Aptos"/>
              <a:cs typeface="Aptos"/>
            </a:endParaRPr>
          </a:p>
          <a:p>
            <a:pPr marR="5715" algn="r">
              <a:lnSpc>
                <a:spcPct val="100000"/>
              </a:lnSpc>
            </a:pPr>
            <a:r>
              <a:rPr sz="800" dirty="0">
                <a:latin typeface="Aptos"/>
                <a:cs typeface="Aptos"/>
              </a:rPr>
              <a:t>6</a:t>
            </a:r>
            <a:endParaRPr sz="800">
              <a:latin typeface="Aptos"/>
              <a:cs typeface="Apto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048622" y="3459226"/>
            <a:ext cx="6019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200" baseline="34722" dirty="0">
                <a:latin typeface="Aptos"/>
                <a:cs typeface="Aptos"/>
              </a:rPr>
              <a:t>-</a:t>
            </a:r>
            <a:r>
              <a:rPr sz="1200" spc="660" baseline="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28.56185</a:t>
            </a:r>
            <a:endParaRPr sz="800">
              <a:latin typeface="Aptos"/>
              <a:cs typeface="Apto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543666" y="3581146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7</a:t>
            </a:r>
            <a:endParaRPr sz="800">
              <a:latin typeface="Aptos"/>
              <a:cs typeface="Apto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33507" y="3520185"/>
            <a:ext cx="800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ptos"/>
                <a:cs typeface="Aptos"/>
              </a:rPr>
              <a:t>0</a:t>
            </a:r>
            <a:endParaRPr sz="800">
              <a:latin typeface="Aptos"/>
              <a:cs typeface="Apto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18083" y="4285869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ptos"/>
                <a:cs typeface="Aptos"/>
              </a:rPr>
              <a:t>2</a:t>
            </a:r>
            <a:endParaRPr sz="800">
              <a:latin typeface="Aptos"/>
              <a:cs typeface="Apto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09166" y="4285869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3</a:t>
            </a:r>
            <a:endParaRPr sz="800">
              <a:latin typeface="Aptos"/>
              <a:cs typeface="Apto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55977" y="4224909"/>
            <a:ext cx="4235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2013-</a:t>
            </a:r>
            <a:r>
              <a:rPr sz="800" spc="-25" dirty="0">
                <a:latin typeface="Aptos"/>
                <a:cs typeface="Aptos"/>
              </a:rPr>
              <a:t>03-</a:t>
            </a:r>
            <a:endParaRPr sz="800">
              <a:latin typeface="Aptos"/>
              <a:cs typeface="Aptos"/>
            </a:endParaRPr>
          </a:p>
          <a:p>
            <a:pPr marR="5080" algn="r">
              <a:lnSpc>
                <a:spcPct val="100000"/>
              </a:lnSpc>
            </a:pPr>
            <a:r>
              <a:rPr sz="800" spc="-25" dirty="0">
                <a:latin typeface="Aptos"/>
                <a:cs typeface="Aptos"/>
              </a:rPr>
              <a:t>01</a:t>
            </a:r>
            <a:endParaRPr sz="800">
              <a:latin typeface="Aptos"/>
              <a:cs typeface="Apto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43023" y="4224909"/>
            <a:ext cx="942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5" baseline="-34722" dirty="0">
                <a:latin typeface="Aptos"/>
                <a:cs typeface="Aptos"/>
              </a:rPr>
              <a:t>Falcon</a:t>
            </a:r>
            <a:r>
              <a:rPr sz="1200" spc="-60" baseline="-34722" dirty="0">
                <a:latin typeface="Times New Roman"/>
                <a:cs typeface="Times New Roman"/>
              </a:rPr>
              <a:t> </a:t>
            </a:r>
            <a:r>
              <a:rPr sz="1200" baseline="-34722" dirty="0">
                <a:latin typeface="Aptos"/>
                <a:cs typeface="Aptos"/>
              </a:rPr>
              <a:t>9</a:t>
            </a:r>
            <a:r>
              <a:rPr sz="1200" spc="727" baseline="-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677.0000</a:t>
            </a:r>
            <a:endParaRPr sz="800">
              <a:latin typeface="Aptos"/>
              <a:cs typeface="Apto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123436" y="4346828"/>
            <a:ext cx="1352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ptos"/>
                <a:cs typeface="Aptos"/>
              </a:rPr>
              <a:t>00</a:t>
            </a:r>
            <a:endParaRPr sz="800">
              <a:latin typeface="Aptos"/>
              <a:cs typeface="Apto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580891" y="4285869"/>
            <a:ext cx="167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ptos"/>
                <a:cs typeface="Aptos"/>
              </a:rPr>
              <a:t>ISS</a:t>
            </a:r>
            <a:endParaRPr sz="800">
              <a:latin typeface="Aptos"/>
              <a:cs typeface="Apto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01566" y="4224909"/>
            <a:ext cx="3365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ptos"/>
                <a:cs typeface="Aptos"/>
              </a:rPr>
              <a:t>CCAFS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SLC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35" dirty="0">
                <a:latin typeface="Aptos"/>
                <a:cs typeface="Aptos"/>
              </a:rPr>
              <a:t>40</a:t>
            </a:r>
            <a:endParaRPr sz="800">
              <a:latin typeface="Aptos"/>
              <a:cs typeface="Apto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64177" y="4224909"/>
            <a:ext cx="263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ptos"/>
                <a:cs typeface="Aptos"/>
              </a:rPr>
              <a:t>None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20" dirty="0">
                <a:latin typeface="Aptos"/>
                <a:cs typeface="Aptos"/>
              </a:rPr>
              <a:t>None</a:t>
            </a:r>
            <a:endParaRPr sz="800">
              <a:latin typeface="Aptos"/>
              <a:cs typeface="Apto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48622" y="4224909"/>
            <a:ext cx="6019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aseline="34722" dirty="0">
                <a:latin typeface="Aptos"/>
                <a:cs typeface="Aptos"/>
              </a:rPr>
              <a:t>-</a:t>
            </a:r>
            <a:r>
              <a:rPr sz="1200" spc="660" baseline="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28.56185</a:t>
            </a:r>
            <a:endParaRPr sz="800">
              <a:latin typeface="Aptos"/>
              <a:cs typeface="Aptos"/>
            </a:endParaRPr>
          </a:p>
          <a:p>
            <a:pPr marR="31115" algn="r">
              <a:lnSpc>
                <a:spcPct val="100000"/>
              </a:lnSpc>
            </a:pPr>
            <a:r>
              <a:rPr sz="800" dirty="0">
                <a:latin typeface="Aptos"/>
                <a:cs typeface="Aptos"/>
              </a:rPr>
              <a:t>7</a:t>
            </a:r>
            <a:endParaRPr sz="800">
              <a:latin typeface="Aptos"/>
              <a:cs typeface="Aptos"/>
            </a:endParaRPr>
          </a:p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5117846" y="4304801"/>
          <a:ext cx="4036695" cy="1656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1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6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69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1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869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869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869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NaN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869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1.0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ts val="869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0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869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B0007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869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80.57736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05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6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915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1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5730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2065" algn="ct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21590" algn="ctr">
                        <a:lnSpc>
                          <a:spcPts val="915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NaN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4290" algn="ctr">
                        <a:lnSpc>
                          <a:spcPts val="915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1.0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96520" algn="r">
                        <a:lnSpc>
                          <a:spcPts val="915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0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B1003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0640" marR="24130" indent="373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50" dirty="0">
                          <a:latin typeface="Aptos"/>
                          <a:cs typeface="Aptos"/>
                        </a:rPr>
                        <a:t>-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Aptos"/>
                          <a:cs typeface="Aptos"/>
                        </a:rPr>
                        <a:t>120.6108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05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29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915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1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5730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2065" algn="ct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False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21590" algn="ctr">
                        <a:lnSpc>
                          <a:spcPts val="915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NaN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4290" algn="ctr">
                        <a:lnSpc>
                          <a:spcPts val="915"/>
                        </a:lnSpc>
                      </a:pPr>
                      <a:r>
                        <a:rPr sz="800" spc="-25" dirty="0">
                          <a:latin typeface="Aptos"/>
                          <a:cs typeface="Aptos"/>
                        </a:rPr>
                        <a:t>1.0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96520" algn="r">
                        <a:lnSpc>
                          <a:spcPts val="915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0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ts val="915"/>
                        </a:lnSpc>
                      </a:pPr>
                      <a:r>
                        <a:rPr sz="800" spc="-10" dirty="0">
                          <a:latin typeface="Aptos"/>
                          <a:cs typeface="Aptos"/>
                        </a:rPr>
                        <a:t>B1004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0640" marR="24130" indent="373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50" dirty="0">
                          <a:latin typeface="Aptos"/>
                          <a:cs typeface="Aptos"/>
                        </a:rPr>
                        <a:t>-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Aptos"/>
                          <a:cs typeface="Aptos"/>
                        </a:rPr>
                        <a:t>80.57736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869"/>
                        </a:lnSpc>
                      </a:pPr>
                      <a:r>
                        <a:rPr sz="800" dirty="0">
                          <a:latin typeface="Aptos"/>
                          <a:cs typeface="Aptos"/>
                        </a:rPr>
                        <a:t>6</a:t>
                      </a:r>
                      <a:endParaRPr sz="800">
                        <a:latin typeface="Aptos"/>
                        <a:cs typeface="Apto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" name="object 63"/>
          <p:cNvSpPr txBox="1"/>
          <p:nvPr/>
        </p:nvSpPr>
        <p:spPr>
          <a:xfrm>
            <a:off x="10033507" y="4285869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0</a:t>
            </a:r>
            <a:endParaRPr sz="800">
              <a:latin typeface="Aptos"/>
              <a:cs typeface="Apto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18083" y="4991227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ptos"/>
                <a:cs typeface="Aptos"/>
              </a:rPr>
              <a:t>3</a:t>
            </a:r>
            <a:endParaRPr sz="800">
              <a:latin typeface="Aptos"/>
              <a:cs typeface="Apto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09166" y="4991227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4</a:t>
            </a:r>
            <a:endParaRPr sz="800">
              <a:latin typeface="Aptos"/>
              <a:cs typeface="Apto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855977" y="4930266"/>
            <a:ext cx="4235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2013-</a:t>
            </a:r>
            <a:r>
              <a:rPr sz="800" spc="-25" dirty="0">
                <a:latin typeface="Aptos"/>
                <a:cs typeface="Aptos"/>
              </a:rPr>
              <a:t>09-</a:t>
            </a:r>
            <a:endParaRPr sz="800">
              <a:latin typeface="Aptos"/>
              <a:cs typeface="Apto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800" spc="-25" dirty="0">
                <a:latin typeface="Aptos"/>
                <a:cs typeface="Aptos"/>
              </a:rPr>
              <a:t>29</a:t>
            </a:r>
            <a:endParaRPr sz="800">
              <a:latin typeface="Aptos"/>
              <a:cs typeface="Apto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43023" y="4930266"/>
            <a:ext cx="9423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5" baseline="-34722" dirty="0">
                <a:latin typeface="Aptos"/>
                <a:cs typeface="Aptos"/>
              </a:rPr>
              <a:t>Falcon</a:t>
            </a:r>
            <a:r>
              <a:rPr sz="1200" spc="-60" baseline="-34722" dirty="0">
                <a:latin typeface="Times New Roman"/>
                <a:cs typeface="Times New Roman"/>
              </a:rPr>
              <a:t> </a:t>
            </a:r>
            <a:r>
              <a:rPr sz="1200" baseline="-34722" dirty="0">
                <a:latin typeface="Aptos"/>
                <a:cs typeface="Aptos"/>
              </a:rPr>
              <a:t>9</a:t>
            </a:r>
            <a:r>
              <a:rPr sz="1200" spc="727" baseline="-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500.0000</a:t>
            </a:r>
            <a:endParaRPr sz="800">
              <a:latin typeface="Aptos"/>
              <a:cs typeface="Apto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123436" y="5052186"/>
            <a:ext cx="1352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ptos"/>
                <a:cs typeface="Aptos"/>
              </a:rPr>
              <a:t>00</a:t>
            </a:r>
            <a:endParaRPr sz="800">
              <a:latin typeface="Aptos"/>
              <a:cs typeface="Apto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588511" y="4991227"/>
            <a:ext cx="1606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ptos"/>
                <a:cs typeface="Aptos"/>
              </a:rPr>
              <a:t>PO</a:t>
            </a:r>
            <a:endParaRPr sz="800">
              <a:latin typeface="Aptos"/>
              <a:cs typeface="Apto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03090" y="4930266"/>
            <a:ext cx="335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ptos"/>
                <a:cs typeface="Aptos"/>
              </a:rPr>
              <a:t>VAFB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SLC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35" dirty="0">
                <a:latin typeface="Aptos"/>
                <a:cs typeface="Aptos"/>
              </a:rPr>
              <a:t>4E</a:t>
            </a:r>
            <a:endParaRPr sz="800">
              <a:latin typeface="Aptos"/>
              <a:cs typeface="Apto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409309" y="4930266"/>
            <a:ext cx="3187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ptos"/>
                <a:cs typeface="Aptos"/>
              </a:rPr>
              <a:t>False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Ocean</a:t>
            </a:r>
            <a:endParaRPr sz="800">
              <a:latin typeface="Aptos"/>
              <a:cs typeface="Apto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190101" y="4930266"/>
            <a:ext cx="4349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ptos"/>
                <a:cs typeface="Aptos"/>
              </a:rPr>
              <a:t>34.63209</a:t>
            </a:r>
            <a:endParaRPr sz="800">
              <a:latin typeface="Aptos"/>
              <a:cs typeface="Aptos"/>
            </a:endParaRPr>
          </a:p>
          <a:p>
            <a:pPr marR="5715" algn="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Aptos"/>
                <a:cs typeface="Aptos"/>
              </a:rPr>
              <a:t>3</a:t>
            </a:r>
            <a:endParaRPr sz="800">
              <a:latin typeface="Aptos"/>
              <a:cs typeface="Apto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033507" y="4991227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0</a:t>
            </a:r>
            <a:endParaRPr sz="800">
              <a:latin typeface="Aptos"/>
              <a:cs typeface="Apto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218083" y="5696508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Aptos"/>
                <a:cs typeface="Aptos"/>
              </a:rPr>
              <a:t>4</a:t>
            </a:r>
            <a:endParaRPr sz="800">
              <a:latin typeface="Aptos"/>
              <a:cs typeface="Apto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09166" y="5696508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5</a:t>
            </a:r>
            <a:endParaRPr sz="800">
              <a:latin typeface="Aptos"/>
              <a:cs typeface="Apto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855977" y="5635548"/>
            <a:ext cx="4235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2013-</a:t>
            </a:r>
            <a:r>
              <a:rPr sz="800" spc="-25" dirty="0">
                <a:latin typeface="Aptos"/>
                <a:cs typeface="Aptos"/>
              </a:rPr>
              <a:t>12-</a:t>
            </a:r>
            <a:endParaRPr sz="800">
              <a:latin typeface="Aptos"/>
              <a:cs typeface="Apto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800" spc="-25" dirty="0">
                <a:latin typeface="Aptos"/>
                <a:cs typeface="Aptos"/>
              </a:rPr>
              <a:t>03</a:t>
            </a:r>
            <a:endParaRPr sz="800">
              <a:latin typeface="Aptos"/>
              <a:cs typeface="Apto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343023" y="5635548"/>
            <a:ext cx="9417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5" baseline="-34722" dirty="0">
                <a:latin typeface="Aptos"/>
                <a:cs typeface="Aptos"/>
              </a:rPr>
              <a:t>Falcon</a:t>
            </a:r>
            <a:r>
              <a:rPr sz="1200" spc="-60" baseline="-34722" dirty="0">
                <a:latin typeface="Times New Roman"/>
                <a:cs typeface="Times New Roman"/>
              </a:rPr>
              <a:t> </a:t>
            </a:r>
            <a:r>
              <a:rPr sz="1200" baseline="-34722" dirty="0">
                <a:latin typeface="Aptos"/>
                <a:cs typeface="Aptos"/>
              </a:rPr>
              <a:t>9</a:t>
            </a:r>
            <a:r>
              <a:rPr sz="1200" spc="727" baseline="-34722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3170.000</a:t>
            </a:r>
            <a:endParaRPr sz="800">
              <a:latin typeface="Aptos"/>
              <a:cs typeface="Apto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68573" y="5757468"/>
            <a:ext cx="1905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ptos"/>
                <a:cs typeface="Aptos"/>
              </a:rPr>
              <a:t>000</a:t>
            </a:r>
            <a:endParaRPr sz="800">
              <a:latin typeface="Aptos"/>
              <a:cs typeface="Apto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27552" y="5696508"/>
            <a:ext cx="22097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Aptos"/>
                <a:cs typeface="Aptos"/>
              </a:rPr>
              <a:t>GTO</a:t>
            </a:r>
            <a:endParaRPr sz="800">
              <a:latin typeface="Aptos"/>
              <a:cs typeface="Apto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901566" y="5635548"/>
            <a:ext cx="3365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ptos"/>
                <a:cs typeface="Aptos"/>
              </a:rPr>
              <a:t>CCAFS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Aptos"/>
                <a:cs typeface="Aptos"/>
              </a:rPr>
              <a:t>SLC</a:t>
            </a:r>
            <a:r>
              <a:rPr sz="800" spc="-25" dirty="0">
                <a:latin typeface="Times New Roman"/>
                <a:cs typeface="Times New Roman"/>
              </a:rPr>
              <a:t> </a:t>
            </a:r>
            <a:r>
              <a:rPr sz="800" spc="-35" dirty="0">
                <a:latin typeface="Aptos"/>
                <a:cs typeface="Aptos"/>
              </a:rPr>
              <a:t>40</a:t>
            </a:r>
            <a:endParaRPr sz="800">
              <a:latin typeface="Aptos"/>
              <a:cs typeface="Apto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64177" y="5635548"/>
            <a:ext cx="263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latin typeface="Aptos"/>
                <a:cs typeface="Aptos"/>
              </a:rPr>
              <a:t>None</a:t>
            </a:r>
            <a:r>
              <a:rPr sz="800" spc="500" dirty="0">
                <a:latin typeface="Times New Roman"/>
                <a:cs typeface="Times New Roman"/>
              </a:rPr>
              <a:t> </a:t>
            </a:r>
            <a:r>
              <a:rPr sz="800" spc="-20" dirty="0">
                <a:latin typeface="Aptos"/>
                <a:cs typeface="Aptos"/>
              </a:rPr>
              <a:t>None</a:t>
            </a:r>
            <a:endParaRPr sz="800">
              <a:latin typeface="Aptos"/>
              <a:cs typeface="Apto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190101" y="5635548"/>
            <a:ext cx="4349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ptos"/>
                <a:cs typeface="Aptos"/>
              </a:rPr>
              <a:t>28.56185</a:t>
            </a:r>
            <a:endParaRPr sz="800">
              <a:latin typeface="Aptos"/>
              <a:cs typeface="Aptos"/>
            </a:endParaRPr>
          </a:p>
          <a:p>
            <a:pPr marR="5715" algn="r">
              <a:lnSpc>
                <a:spcPct val="100000"/>
              </a:lnSpc>
              <a:spcBef>
                <a:spcPts val="5"/>
              </a:spcBef>
            </a:pPr>
            <a:r>
              <a:rPr sz="800" dirty="0">
                <a:latin typeface="Aptos"/>
                <a:cs typeface="Aptos"/>
              </a:rPr>
              <a:t>7</a:t>
            </a:r>
            <a:endParaRPr sz="800">
              <a:latin typeface="Aptos"/>
              <a:cs typeface="Apto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033507" y="5696508"/>
            <a:ext cx="800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ptos"/>
                <a:cs typeface="Aptos"/>
              </a:rPr>
              <a:t>0</a:t>
            </a:r>
            <a:endParaRPr sz="8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1415" y="548766"/>
            <a:ext cx="2249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ptos Display"/>
                <a:cs typeface="Aptos Display"/>
              </a:rPr>
              <a:t>x.head(100)</a:t>
            </a:r>
            <a:endParaRPr sz="3600">
              <a:latin typeface="Aptos Display"/>
              <a:cs typeface="Aptos Display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93134" y="1264411"/>
            <a:ext cx="3207385" cy="89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ptos"/>
                <a:cs typeface="Aptos"/>
              </a:rPr>
              <a:t>90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Aptos"/>
                <a:cs typeface="Aptos"/>
              </a:rPr>
              <a:t>rows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×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ptos"/>
                <a:cs typeface="Aptos"/>
              </a:rPr>
              <a:t>83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ptos"/>
                <a:cs typeface="Aptos"/>
              </a:rPr>
              <a:t>columns</a:t>
            </a:r>
            <a:endParaRPr sz="18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Aptos"/>
              <a:cs typeface="Aptos"/>
            </a:endParaRPr>
          </a:p>
          <a:p>
            <a:pPr algn="ctr">
              <a:lnSpc>
                <a:spcPct val="100000"/>
              </a:lnSpc>
            </a:pPr>
            <a:r>
              <a:rPr sz="1850" spc="-10" dirty="0">
                <a:solidFill>
                  <a:srgbClr val="595959"/>
                </a:solidFill>
                <a:latin typeface="Aptos"/>
                <a:cs typeface="Aptos"/>
              </a:rPr>
              <a:t>Payload</a:t>
            </a:r>
            <a:r>
              <a:rPr sz="185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595959"/>
                </a:solidFill>
                <a:latin typeface="Aptos"/>
                <a:cs typeface="Aptos"/>
              </a:rPr>
              <a:t>Mass</a:t>
            </a:r>
            <a:r>
              <a:rPr sz="1850" spc="-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595959"/>
                </a:solidFill>
                <a:latin typeface="Aptos"/>
                <a:cs typeface="Aptos"/>
              </a:rPr>
              <a:t>by</a:t>
            </a:r>
            <a:r>
              <a:rPr sz="1850" spc="-1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595959"/>
                </a:solidFill>
                <a:latin typeface="Aptos"/>
                <a:cs typeface="Aptos"/>
              </a:rPr>
              <a:t>Flight</a:t>
            </a:r>
            <a:r>
              <a:rPr sz="1850" spc="-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ptos"/>
                <a:cs typeface="Aptos"/>
              </a:rPr>
              <a:t>Number</a:t>
            </a:r>
            <a:endParaRPr sz="1850">
              <a:latin typeface="Aptos"/>
              <a:cs typeface="Apto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88322" y="2324734"/>
            <a:ext cx="5789295" cy="3330575"/>
            <a:chOff x="3088322" y="2324734"/>
            <a:chExt cx="5789295" cy="3330575"/>
          </a:xfrm>
        </p:grpSpPr>
        <p:sp>
          <p:nvSpPr>
            <p:cNvPr id="5" name="object 5"/>
            <p:cNvSpPr/>
            <p:nvPr/>
          </p:nvSpPr>
          <p:spPr>
            <a:xfrm>
              <a:off x="3845052" y="3989831"/>
              <a:ext cx="1501140" cy="1664970"/>
            </a:xfrm>
            <a:custGeom>
              <a:avLst/>
              <a:gdLst/>
              <a:ahLst/>
              <a:cxnLst/>
              <a:rect l="l" t="t" r="r" b="b"/>
              <a:pathLst>
                <a:path w="1501139" h="1664970">
                  <a:moveTo>
                    <a:pt x="0" y="1408176"/>
                  </a:moveTo>
                  <a:lnTo>
                    <a:pt x="0" y="1664931"/>
                  </a:lnTo>
                </a:path>
                <a:path w="1501139" h="1664970">
                  <a:moveTo>
                    <a:pt x="0" y="281940"/>
                  </a:moveTo>
                  <a:lnTo>
                    <a:pt x="0" y="1126236"/>
                  </a:lnTo>
                </a:path>
                <a:path w="1501139" h="1664970">
                  <a:moveTo>
                    <a:pt x="749808" y="1408176"/>
                  </a:moveTo>
                  <a:lnTo>
                    <a:pt x="749808" y="1664931"/>
                  </a:lnTo>
                </a:path>
                <a:path w="1501139" h="1664970">
                  <a:moveTo>
                    <a:pt x="749808" y="0"/>
                  </a:moveTo>
                  <a:lnTo>
                    <a:pt x="749808" y="1126236"/>
                  </a:lnTo>
                </a:path>
                <a:path w="1501139" h="1664970">
                  <a:moveTo>
                    <a:pt x="1501140" y="1408176"/>
                  </a:moveTo>
                  <a:lnTo>
                    <a:pt x="1501140" y="1664931"/>
                  </a:lnTo>
                </a:path>
                <a:path w="1501139" h="1664970">
                  <a:moveTo>
                    <a:pt x="1501140" y="0"/>
                  </a:moveTo>
                  <a:lnTo>
                    <a:pt x="1501140" y="1126236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93085" y="5116067"/>
              <a:ext cx="2292985" cy="281940"/>
            </a:xfrm>
            <a:custGeom>
              <a:avLst/>
              <a:gdLst/>
              <a:ahLst/>
              <a:cxnLst/>
              <a:rect l="l" t="t" r="r" b="b"/>
              <a:pathLst>
                <a:path w="2292985" h="281939">
                  <a:moveTo>
                    <a:pt x="2292731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2292731" y="281940"/>
                  </a:lnTo>
                  <a:lnTo>
                    <a:pt x="2292731" y="0"/>
                  </a:lnTo>
                  <a:close/>
                </a:path>
              </a:pathLst>
            </a:custGeom>
            <a:solidFill>
              <a:srgbClr val="156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93085" y="4835655"/>
              <a:ext cx="197485" cy="280670"/>
            </a:xfrm>
            <a:custGeom>
              <a:avLst/>
              <a:gdLst/>
              <a:ahLst/>
              <a:cxnLst/>
              <a:rect l="l" t="t" r="r" b="b"/>
              <a:pathLst>
                <a:path w="197485" h="280670">
                  <a:moveTo>
                    <a:pt x="197266" y="0"/>
                  </a:moveTo>
                  <a:lnTo>
                    <a:pt x="0" y="0"/>
                  </a:lnTo>
                  <a:lnTo>
                    <a:pt x="0" y="280412"/>
                  </a:lnTo>
                  <a:lnTo>
                    <a:pt x="197266" y="280412"/>
                  </a:lnTo>
                  <a:lnTo>
                    <a:pt x="197266" y="0"/>
                  </a:lnTo>
                  <a:close/>
                </a:path>
              </a:pathLst>
            </a:custGeom>
            <a:solidFill>
              <a:srgbClr val="E971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93085" y="4553711"/>
              <a:ext cx="254000" cy="281940"/>
            </a:xfrm>
            <a:custGeom>
              <a:avLst/>
              <a:gdLst/>
              <a:ahLst/>
              <a:cxnLst/>
              <a:rect l="l" t="t" r="r" b="b"/>
              <a:pathLst>
                <a:path w="254000" h="281939">
                  <a:moveTo>
                    <a:pt x="253657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253657" y="281940"/>
                  </a:lnTo>
                  <a:lnTo>
                    <a:pt x="253657" y="0"/>
                  </a:lnTo>
                  <a:close/>
                </a:path>
              </a:pathLst>
            </a:custGeom>
            <a:solidFill>
              <a:srgbClr val="196B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3085" y="4271771"/>
              <a:ext cx="188595" cy="281940"/>
            </a:xfrm>
            <a:custGeom>
              <a:avLst/>
              <a:gdLst/>
              <a:ahLst/>
              <a:cxnLst/>
              <a:rect l="l" t="t" r="r" b="b"/>
              <a:pathLst>
                <a:path w="188595" h="281939">
                  <a:moveTo>
                    <a:pt x="188123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188123" y="281940"/>
                  </a:lnTo>
                  <a:lnTo>
                    <a:pt x="188123" y="0"/>
                  </a:lnTo>
                  <a:close/>
                </a:path>
              </a:pathLst>
            </a:custGeom>
            <a:solidFill>
              <a:srgbClr val="0F9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3085" y="3989831"/>
              <a:ext cx="1191260" cy="281940"/>
            </a:xfrm>
            <a:custGeom>
              <a:avLst/>
              <a:gdLst/>
              <a:ahLst/>
              <a:cxnLst/>
              <a:rect l="l" t="t" r="r" b="b"/>
              <a:pathLst>
                <a:path w="1191260" h="281939">
                  <a:moveTo>
                    <a:pt x="1190917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1190917" y="281940"/>
                  </a:lnTo>
                  <a:lnTo>
                    <a:pt x="1190917" y="0"/>
                  </a:lnTo>
                  <a:close/>
                </a:path>
              </a:pathLst>
            </a:custGeom>
            <a:solidFill>
              <a:srgbClr val="A02B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7524" y="3989831"/>
              <a:ext cx="2254250" cy="1664970"/>
            </a:xfrm>
            <a:custGeom>
              <a:avLst/>
              <a:gdLst/>
              <a:ahLst/>
              <a:cxnLst/>
              <a:rect l="l" t="t" r="r" b="b"/>
              <a:pathLst>
                <a:path w="2254250" h="1664970">
                  <a:moveTo>
                    <a:pt x="0" y="0"/>
                  </a:moveTo>
                  <a:lnTo>
                    <a:pt x="0" y="1664931"/>
                  </a:lnTo>
                </a:path>
                <a:path w="2254250" h="1664970">
                  <a:moveTo>
                    <a:pt x="751332" y="0"/>
                  </a:moveTo>
                  <a:lnTo>
                    <a:pt x="751332" y="1664931"/>
                  </a:lnTo>
                </a:path>
                <a:path w="2254250" h="1664970">
                  <a:moveTo>
                    <a:pt x="1502664" y="0"/>
                  </a:moveTo>
                  <a:lnTo>
                    <a:pt x="1502664" y="1664931"/>
                  </a:lnTo>
                </a:path>
                <a:path w="2254250" h="1664970">
                  <a:moveTo>
                    <a:pt x="2253996" y="0"/>
                  </a:moveTo>
                  <a:lnTo>
                    <a:pt x="2253996" y="166493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3085" y="3707891"/>
              <a:ext cx="5784215" cy="281940"/>
            </a:xfrm>
            <a:custGeom>
              <a:avLst/>
              <a:gdLst/>
              <a:ahLst/>
              <a:cxnLst/>
              <a:rect l="l" t="t" r="r" b="b"/>
              <a:pathLst>
                <a:path w="5784215" h="281939">
                  <a:moveTo>
                    <a:pt x="5784215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5784215" y="281940"/>
                  </a:lnTo>
                  <a:lnTo>
                    <a:pt x="5784215" y="0"/>
                  </a:lnTo>
                  <a:close/>
                </a:path>
              </a:pathLst>
            </a:custGeom>
            <a:solidFill>
              <a:srgbClr val="4EA7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93085" y="3425951"/>
              <a:ext cx="5784215" cy="281940"/>
            </a:xfrm>
            <a:custGeom>
              <a:avLst/>
              <a:gdLst/>
              <a:ahLst/>
              <a:cxnLst/>
              <a:rect l="l" t="t" r="r" b="b"/>
              <a:pathLst>
                <a:path w="5784215" h="281939">
                  <a:moveTo>
                    <a:pt x="5784215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5784215" y="281940"/>
                  </a:lnTo>
                  <a:lnTo>
                    <a:pt x="5784215" y="0"/>
                  </a:lnTo>
                  <a:close/>
                </a:path>
              </a:pathLst>
            </a:custGeom>
            <a:solidFill>
              <a:srgbClr val="0D3A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94860" y="2863595"/>
              <a:ext cx="3756660" cy="280670"/>
            </a:xfrm>
            <a:custGeom>
              <a:avLst/>
              <a:gdLst/>
              <a:ahLst/>
              <a:cxnLst/>
              <a:rect l="l" t="t" r="r" b="b"/>
              <a:pathLst>
                <a:path w="3756659" h="280669">
                  <a:moveTo>
                    <a:pt x="0" y="0"/>
                  </a:moveTo>
                  <a:lnTo>
                    <a:pt x="0" y="280416"/>
                  </a:lnTo>
                </a:path>
                <a:path w="3756659" h="280669">
                  <a:moveTo>
                    <a:pt x="751332" y="0"/>
                  </a:moveTo>
                  <a:lnTo>
                    <a:pt x="751332" y="280416"/>
                  </a:lnTo>
                </a:path>
                <a:path w="3756659" h="280669">
                  <a:moveTo>
                    <a:pt x="1502664" y="0"/>
                  </a:moveTo>
                  <a:lnTo>
                    <a:pt x="1502664" y="280416"/>
                  </a:lnTo>
                </a:path>
                <a:path w="3756659" h="280669">
                  <a:moveTo>
                    <a:pt x="2253996" y="0"/>
                  </a:moveTo>
                  <a:lnTo>
                    <a:pt x="2253996" y="280416"/>
                  </a:lnTo>
                </a:path>
                <a:path w="3756659" h="280669">
                  <a:moveTo>
                    <a:pt x="3005328" y="0"/>
                  </a:moveTo>
                  <a:lnTo>
                    <a:pt x="3005328" y="280416"/>
                  </a:lnTo>
                </a:path>
                <a:path w="3756659" h="280669">
                  <a:moveTo>
                    <a:pt x="3756660" y="0"/>
                  </a:moveTo>
                  <a:lnTo>
                    <a:pt x="3756660" y="280416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93085" y="3144011"/>
              <a:ext cx="5784215" cy="281940"/>
            </a:xfrm>
            <a:custGeom>
              <a:avLst/>
              <a:gdLst/>
              <a:ahLst/>
              <a:cxnLst/>
              <a:rect l="l" t="t" r="r" b="b"/>
              <a:pathLst>
                <a:path w="5784215" h="281939">
                  <a:moveTo>
                    <a:pt x="5784215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5784215" y="281940"/>
                  </a:lnTo>
                  <a:lnTo>
                    <a:pt x="5784215" y="0"/>
                  </a:lnTo>
                  <a:close/>
                </a:path>
              </a:pathLst>
            </a:custGeom>
            <a:solidFill>
              <a:srgbClr val="994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3085" y="2863594"/>
              <a:ext cx="1383030" cy="280670"/>
            </a:xfrm>
            <a:custGeom>
              <a:avLst/>
              <a:gdLst/>
              <a:ahLst/>
              <a:cxnLst/>
              <a:rect l="l" t="t" r="r" b="b"/>
              <a:pathLst>
                <a:path w="1383029" h="280669">
                  <a:moveTo>
                    <a:pt x="1382903" y="0"/>
                  </a:moveTo>
                  <a:lnTo>
                    <a:pt x="0" y="0"/>
                  </a:lnTo>
                  <a:lnTo>
                    <a:pt x="0" y="280417"/>
                  </a:lnTo>
                  <a:lnTo>
                    <a:pt x="1382903" y="280417"/>
                  </a:lnTo>
                  <a:lnTo>
                    <a:pt x="1382903" y="0"/>
                  </a:lnTo>
                  <a:close/>
                </a:path>
              </a:pathLst>
            </a:custGeom>
            <a:solidFill>
              <a:srgbClr val="0F40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45052" y="2324734"/>
              <a:ext cx="4506595" cy="257175"/>
            </a:xfrm>
            <a:custGeom>
              <a:avLst/>
              <a:gdLst/>
              <a:ahLst/>
              <a:cxnLst/>
              <a:rect l="l" t="t" r="r" b="b"/>
              <a:pathLst>
                <a:path w="4506595" h="257175">
                  <a:moveTo>
                    <a:pt x="0" y="0"/>
                  </a:moveTo>
                  <a:lnTo>
                    <a:pt x="0" y="256921"/>
                  </a:lnTo>
                </a:path>
                <a:path w="4506595" h="257175">
                  <a:moveTo>
                    <a:pt x="749808" y="0"/>
                  </a:moveTo>
                  <a:lnTo>
                    <a:pt x="749808" y="256921"/>
                  </a:lnTo>
                </a:path>
                <a:path w="4506595" h="257175">
                  <a:moveTo>
                    <a:pt x="1501140" y="0"/>
                  </a:moveTo>
                  <a:lnTo>
                    <a:pt x="1501140" y="256921"/>
                  </a:lnTo>
                </a:path>
                <a:path w="4506595" h="257175">
                  <a:moveTo>
                    <a:pt x="2252472" y="0"/>
                  </a:moveTo>
                  <a:lnTo>
                    <a:pt x="2252472" y="256921"/>
                  </a:lnTo>
                </a:path>
                <a:path w="4506595" h="257175">
                  <a:moveTo>
                    <a:pt x="3003804" y="0"/>
                  </a:moveTo>
                  <a:lnTo>
                    <a:pt x="3003804" y="256921"/>
                  </a:lnTo>
                </a:path>
                <a:path w="4506595" h="257175">
                  <a:moveTo>
                    <a:pt x="3755136" y="0"/>
                  </a:moveTo>
                  <a:lnTo>
                    <a:pt x="3755136" y="256921"/>
                  </a:lnTo>
                </a:path>
                <a:path w="4506595" h="257175">
                  <a:moveTo>
                    <a:pt x="4506468" y="0"/>
                  </a:moveTo>
                  <a:lnTo>
                    <a:pt x="4506468" y="25692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93085" y="2581655"/>
              <a:ext cx="5784215" cy="281940"/>
            </a:xfrm>
            <a:custGeom>
              <a:avLst/>
              <a:gdLst/>
              <a:ahLst/>
              <a:cxnLst/>
              <a:rect l="l" t="t" r="r" b="b"/>
              <a:pathLst>
                <a:path w="5784215" h="281939">
                  <a:moveTo>
                    <a:pt x="5784215" y="0"/>
                  </a:moveTo>
                  <a:lnTo>
                    <a:pt x="0" y="0"/>
                  </a:lnTo>
                  <a:lnTo>
                    <a:pt x="0" y="281940"/>
                  </a:lnTo>
                  <a:lnTo>
                    <a:pt x="5784215" y="281940"/>
                  </a:lnTo>
                  <a:lnTo>
                    <a:pt x="5784215" y="0"/>
                  </a:lnTo>
                  <a:close/>
                </a:path>
              </a:pathLst>
            </a:custGeom>
            <a:solidFill>
              <a:srgbClr val="095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93085" y="2324734"/>
              <a:ext cx="0" cy="3330575"/>
            </a:xfrm>
            <a:custGeom>
              <a:avLst/>
              <a:gdLst/>
              <a:ahLst/>
              <a:cxnLst/>
              <a:rect l="l" t="t" r="r" b="b"/>
              <a:pathLst>
                <a:path h="3330575">
                  <a:moveTo>
                    <a:pt x="0" y="333002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9102852" y="2324734"/>
            <a:ext cx="0" cy="3330575"/>
          </a:xfrm>
          <a:custGeom>
            <a:avLst/>
            <a:gdLst/>
            <a:ahLst/>
            <a:cxnLst/>
            <a:rect l="l" t="t" r="r" b="b"/>
            <a:pathLst>
              <a:path h="3330575">
                <a:moveTo>
                  <a:pt x="0" y="0"/>
                </a:moveTo>
                <a:lnTo>
                  <a:pt x="0" y="33300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854310" y="2324734"/>
            <a:ext cx="0" cy="3330575"/>
          </a:xfrm>
          <a:custGeom>
            <a:avLst/>
            <a:gdLst/>
            <a:ahLst/>
            <a:cxnLst/>
            <a:rect l="l" t="t" r="r" b="b"/>
            <a:pathLst>
              <a:path h="3330575">
                <a:moveTo>
                  <a:pt x="0" y="0"/>
                </a:moveTo>
                <a:lnTo>
                  <a:pt x="0" y="3330028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40126" y="5729425"/>
            <a:ext cx="1073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Aptos"/>
                <a:cs typeface="Aptos"/>
              </a:rPr>
              <a:t>0</a:t>
            </a:r>
            <a:endParaRPr sz="1200">
              <a:latin typeface="Aptos"/>
              <a:cs typeface="Apto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69534" y="5729425"/>
            <a:ext cx="350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595959"/>
                </a:solidFill>
                <a:latin typeface="Aptos"/>
                <a:cs typeface="Aptos"/>
              </a:rPr>
              <a:t>2000</a:t>
            </a:r>
            <a:endParaRPr sz="1200">
              <a:latin typeface="Aptos"/>
              <a:cs typeface="Apto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37016" y="5729425"/>
            <a:ext cx="43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Aptos"/>
                <a:cs typeface="Aptos"/>
              </a:rPr>
              <a:t>14000</a:t>
            </a:r>
            <a:endParaRPr sz="1200">
              <a:latin typeface="Aptos"/>
              <a:cs typeface="Apto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88344" y="5729425"/>
            <a:ext cx="43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Aptos"/>
                <a:cs typeface="Aptos"/>
              </a:rPr>
              <a:t>16000</a:t>
            </a:r>
            <a:endParaRPr sz="1200">
              <a:latin typeface="Aptos"/>
              <a:cs typeface="Apto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39679" y="5729425"/>
            <a:ext cx="43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Aptos"/>
                <a:cs typeface="Aptos"/>
              </a:rPr>
              <a:t>18000</a:t>
            </a:r>
            <a:endParaRPr sz="1200">
              <a:latin typeface="Aptos"/>
              <a:cs typeface="Apto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65148" y="3867656"/>
            <a:ext cx="901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595959"/>
                </a:solidFill>
                <a:latin typeface="Aptos"/>
                <a:cs typeface="Aptos"/>
              </a:rPr>
              <a:t>PayloadMass</a:t>
            </a:r>
            <a:endParaRPr sz="1200">
              <a:latin typeface="Aptos"/>
              <a:cs typeface="Apto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66844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095F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48860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0F40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230748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9940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12638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0D3A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94654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4EA7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76542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A02B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77279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0F9E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78015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7" y="0"/>
                </a:moveTo>
                <a:lnTo>
                  <a:pt x="0" y="0"/>
                </a:lnTo>
                <a:lnTo>
                  <a:pt x="0" y="83492"/>
                </a:lnTo>
                <a:lnTo>
                  <a:pt x="83497" y="83492"/>
                </a:lnTo>
                <a:lnTo>
                  <a:pt x="83497" y="0"/>
                </a:lnTo>
                <a:close/>
              </a:path>
            </a:pathLst>
          </a:custGeom>
          <a:solidFill>
            <a:srgbClr val="196B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78751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2" y="0"/>
                </a:moveTo>
                <a:lnTo>
                  <a:pt x="0" y="0"/>
                </a:lnTo>
                <a:lnTo>
                  <a:pt x="0" y="83492"/>
                </a:lnTo>
                <a:lnTo>
                  <a:pt x="83492" y="83492"/>
                </a:lnTo>
                <a:lnTo>
                  <a:pt x="83492" y="0"/>
                </a:lnTo>
                <a:close/>
              </a:path>
            </a:pathLst>
          </a:custGeom>
          <a:solidFill>
            <a:srgbClr val="E971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579486" y="6106219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492" y="0"/>
                </a:moveTo>
                <a:lnTo>
                  <a:pt x="0" y="0"/>
                </a:lnTo>
                <a:lnTo>
                  <a:pt x="0" y="83492"/>
                </a:lnTo>
                <a:lnTo>
                  <a:pt x="83492" y="83492"/>
                </a:lnTo>
                <a:lnTo>
                  <a:pt x="83492" y="0"/>
                </a:lnTo>
                <a:close/>
              </a:path>
            </a:pathLst>
          </a:custGeom>
          <a:solidFill>
            <a:srgbClr val="1560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420868" y="5729425"/>
            <a:ext cx="339661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751205" algn="l"/>
                <a:tab pos="1502410" algn="l"/>
                <a:tab pos="2212975" algn="l"/>
                <a:tab pos="2964180" algn="l"/>
              </a:tabLst>
            </a:pPr>
            <a:r>
              <a:rPr sz="1200" spc="-20" dirty="0">
                <a:solidFill>
                  <a:srgbClr val="595959"/>
                </a:solidFill>
                <a:latin typeface="Aptos"/>
                <a:cs typeface="Aptos"/>
              </a:rPr>
              <a:t>4000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595959"/>
                </a:solidFill>
                <a:latin typeface="Aptos"/>
                <a:cs typeface="Aptos"/>
              </a:rPr>
              <a:t>6000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595959"/>
                </a:solidFill>
                <a:latin typeface="Aptos"/>
                <a:cs typeface="Aptos"/>
              </a:rPr>
              <a:t>8000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0" dirty="0">
                <a:solidFill>
                  <a:srgbClr val="595959"/>
                </a:solidFill>
                <a:latin typeface="Aptos"/>
                <a:cs typeface="Aptos"/>
              </a:rPr>
              <a:t>10000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10" dirty="0">
                <a:solidFill>
                  <a:srgbClr val="595959"/>
                </a:solidFill>
                <a:latin typeface="Aptos"/>
                <a:cs typeface="Aptos"/>
              </a:rPr>
              <a:t>12000</a:t>
            </a:r>
            <a:endParaRPr sz="1200">
              <a:latin typeface="Aptos"/>
              <a:cs typeface="Aptos"/>
            </a:endParaRPr>
          </a:p>
          <a:p>
            <a:pPr marR="26670" algn="r">
              <a:lnSpc>
                <a:spcPct val="100000"/>
              </a:lnSpc>
              <a:spcBef>
                <a:spcPts val="894"/>
              </a:spcBef>
              <a:tabLst>
                <a:tab pos="381635" algn="l"/>
                <a:tab pos="763905" algn="l"/>
                <a:tab pos="1145540" algn="l"/>
                <a:tab pos="1527810" algn="l"/>
                <a:tab pos="1909445" algn="l"/>
                <a:tab pos="2210435" algn="l"/>
                <a:tab pos="2511425" algn="l"/>
                <a:tab pos="2811780" algn="l"/>
                <a:tab pos="3112770" algn="l"/>
              </a:tabLst>
            </a:pPr>
            <a:r>
              <a:rPr sz="1200" spc="-25" dirty="0">
                <a:solidFill>
                  <a:srgbClr val="595959"/>
                </a:solidFill>
                <a:latin typeface="Aptos"/>
                <a:cs typeface="Aptos"/>
              </a:rPr>
              <a:t>90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Aptos"/>
                <a:cs typeface="Aptos"/>
              </a:rPr>
              <a:t>89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Aptos"/>
                <a:cs typeface="Aptos"/>
              </a:rPr>
              <a:t>88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Aptos"/>
                <a:cs typeface="Aptos"/>
              </a:rPr>
              <a:t>87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Aptos"/>
                <a:cs typeface="Aptos"/>
              </a:rPr>
              <a:t>86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50" dirty="0">
                <a:solidFill>
                  <a:srgbClr val="595959"/>
                </a:solidFill>
                <a:latin typeface="Aptos"/>
                <a:cs typeface="Aptos"/>
              </a:rPr>
              <a:t>5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50" dirty="0">
                <a:solidFill>
                  <a:srgbClr val="595959"/>
                </a:solidFill>
                <a:latin typeface="Aptos"/>
                <a:cs typeface="Aptos"/>
              </a:rPr>
              <a:t>4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50" dirty="0">
                <a:solidFill>
                  <a:srgbClr val="595959"/>
                </a:solidFill>
                <a:latin typeface="Aptos"/>
                <a:cs typeface="Aptos"/>
              </a:rPr>
              <a:t>3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50" dirty="0">
                <a:solidFill>
                  <a:srgbClr val="595959"/>
                </a:solidFill>
                <a:latin typeface="Aptos"/>
                <a:cs typeface="Aptos"/>
              </a:rPr>
              <a:t>2</a:t>
            </a:r>
            <a:r>
              <a:rPr sz="1200" dirty="0">
                <a:solidFill>
                  <a:srgbClr val="595959"/>
                </a:solidFill>
                <a:latin typeface="Times New Roman"/>
                <a:cs typeface="Times New Roman"/>
              </a:rPr>
              <a:t>	</a:t>
            </a:r>
            <a:r>
              <a:rPr sz="1200" spc="-50" dirty="0">
                <a:solidFill>
                  <a:srgbClr val="595959"/>
                </a:solidFill>
                <a:latin typeface="Aptos"/>
                <a:cs typeface="Aptos"/>
              </a:rPr>
              <a:t>1</a:t>
            </a:r>
            <a:endParaRPr sz="12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1134" y="941578"/>
            <a:ext cx="31877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Conclusion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602994" y="2112393"/>
            <a:ext cx="8926830" cy="102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153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dirty="0">
                <a:latin typeface="Aptos"/>
                <a:cs typeface="Aptos"/>
              </a:rPr>
              <a:t>In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general,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launch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rate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since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2013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kept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increasing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till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2020.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unique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launch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sites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in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space</a:t>
            </a:r>
            <a:endParaRPr sz="1500">
              <a:latin typeface="Aptos"/>
              <a:cs typeface="Aptos"/>
            </a:endParaRPr>
          </a:p>
          <a:p>
            <a:pPr marL="355600" marR="5080">
              <a:lnSpc>
                <a:spcPct val="70000"/>
              </a:lnSpc>
              <a:spcBef>
                <a:spcPts val="270"/>
              </a:spcBef>
            </a:pPr>
            <a:r>
              <a:rPr sz="1500" dirty="0">
                <a:latin typeface="Aptos"/>
                <a:cs typeface="Aptos"/>
              </a:rPr>
              <a:t>mission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include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CCAFS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SLC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-40,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KSL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LC39,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Aptos"/>
                <a:cs typeface="Aptos"/>
              </a:rPr>
              <a:t>VAFB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SLC-</a:t>
            </a:r>
            <a:r>
              <a:rPr sz="1500" dirty="0">
                <a:latin typeface="Aptos"/>
                <a:cs typeface="Aptos"/>
              </a:rPr>
              <a:t>4E,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CCAFS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LC-40.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It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worth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note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taking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Aptos"/>
                <a:cs typeface="Aptos"/>
              </a:rPr>
              <a:t>were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55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successful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10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failure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mission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outcomes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respectively.</a:t>
            </a:r>
            <a:endParaRPr sz="1500">
              <a:latin typeface="Aptos"/>
              <a:cs typeface="Aptos"/>
            </a:endParaRPr>
          </a:p>
          <a:p>
            <a:pPr marL="355600" marR="12700" indent="-342900">
              <a:lnSpc>
                <a:spcPct val="70000"/>
              </a:lnSpc>
              <a:spcBef>
                <a:spcPts val="994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spc="-10" dirty="0">
                <a:latin typeface="Aptos"/>
                <a:cs typeface="Aptos"/>
              </a:rPr>
              <a:t>From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Payload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Mass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Aptos"/>
                <a:cs typeface="Aptos"/>
              </a:rPr>
              <a:t>Vs.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Launch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Site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scatter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point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chart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one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will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find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for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VAFB-</a:t>
            </a:r>
            <a:r>
              <a:rPr sz="1500" spc="-20" dirty="0">
                <a:latin typeface="Aptos"/>
                <a:cs typeface="Aptos"/>
              </a:rPr>
              <a:t>SLC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launchsite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there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are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no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rockets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launched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for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heavypaymass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(mass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(greater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than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10000).</a:t>
            </a:r>
            <a:endParaRPr sz="150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994" y="3165730"/>
            <a:ext cx="88265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dirty="0">
                <a:latin typeface="Aptos"/>
                <a:cs typeface="Aptos"/>
              </a:rPr>
              <a:t>In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general,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launch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rate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since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2013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kept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increasing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till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2020.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unique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launch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sites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in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space</a:t>
            </a:r>
            <a:endParaRPr sz="150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5894" y="3325750"/>
            <a:ext cx="85839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ptos"/>
                <a:cs typeface="Aptos"/>
              </a:rPr>
              <a:t>mission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include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CCAFS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SLC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-40,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KSL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LC39,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Aptos"/>
                <a:cs typeface="Aptos"/>
              </a:rPr>
              <a:t>VAFB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SLC-</a:t>
            </a:r>
            <a:r>
              <a:rPr sz="1500" dirty="0">
                <a:latin typeface="Aptos"/>
                <a:cs typeface="Aptos"/>
              </a:rPr>
              <a:t>4E,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CCAFS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LC-40.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It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worth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note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taking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Aptos"/>
                <a:cs typeface="Aptos"/>
              </a:rPr>
              <a:t>were</a:t>
            </a:r>
            <a:endParaRPr sz="150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5894" y="3485770"/>
            <a:ext cx="49320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ptos"/>
                <a:cs typeface="Aptos"/>
              </a:rPr>
              <a:t>55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successful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10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failure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mission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outcomes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respectively.</a:t>
            </a:r>
            <a:endParaRPr sz="1500">
              <a:latin typeface="Aptos"/>
              <a:cs typeface="Apto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994" y="3773807"/>
            <a:ext cx="84270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dirty="0">
                <a:latin typeface="Aptos"/>
                <a:cs typeface="Aptos"/>
              </a:rPr>
              <a:t>With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heavy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payloads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successful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landing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or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positive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landing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rate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are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more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for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Aptos"/>
                <a:cs typeface="Aptos"/>
              </a:rPr>
              <a:t>Polar,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LEO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Aptos"/>
                <a:cs typeface="Aptos"/>
              </a:rPr>
              <a:t>ISS.</a:t>
            </a:r>
            <a:endParaRPr sz="1500">
              <a:latin typeface="Aptos"/>
              <a:cs typeface="Apto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5894" y="3933827"/>
            <a:ext cx="8121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latin typeface="Aptos"/>
                <a:cs typeface="Aptos"/>
              </a:rPr>
              <a:t>However,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for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40" dirty="0">
                <a:latin typeface="Aptos"/>
                <a:cs typeface="Aptos"/>
              </a:rPr>
              <a:t>GTO,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it's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difficult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to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distinguish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between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successful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unsuccessful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landings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as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Aptos"/>
                <a:cs typeface="Aptos"/>
              </a:rPr>
              <a:t>both</a:t>
            </a:r>
            <a:endParaRPr sz="1500">
              <a:latin typeface="Aptos"/>
              <a:cs typeface="Apto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2994" y="4036329"/>
            <a:ext cx="8886190" cy="5981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550"/>
              </a:spcBef>
            </a:pPr>
            <a:r>
              <a:rPr sz="1500" spc="-10" dirty="0">
                <a:latin typeface="Aptos"/>
                <a:cs typeface="Aptos"/>
              </a:rPr>
              <a:t>outcomes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are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present.</a:t>
            </a:r>
            <a:endParaRPr sz="1500">
              <a:latin typeface="Aptos"/>
              <a:cs typeface="Aptos"/>
            </a:endParaRPr>
          </a:p>
          <a:p>
            <a:pPr marL="355600" indent="-342900">
              <a:lnSpc>
                <a:spcPct val="100000"/>
              </a:lnSpc>
              <a:spcBef>
                <a:spcPts val="45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dirty="0">
                <a:latin typeface="Aptos"/>
                <a:cs typeface="Aptos"/>
              </a:rPr>
              <a:t>It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was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observed</a:t>
            </a:r>
            <a:r>
              <a:rPr sz="1500" spc="-11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that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in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LEO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orbit,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seems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to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be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related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to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number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of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flights.</a:t>
            </a:r>
            <a:r>
              <a:rPr sz="1500" spc="-105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Aptos"/>
                <a:cs typeface="Aptos"/>
              </a:rPr>
              <a:t>Conversely,</a:t>
            </a:r>
            <a:r>
              <a:rPr sz="1500" spc="-11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in</a:t>
            </a:r>
            <a:endParaRPr sz="1500">
              <a:latin typeface="Aptos"/>
              <a:cs typeface="Apto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994" y="4482844"/>
            <a:ext cx="8924925" cy="5988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555"/>
              </a:spcBef>
            </a:pPr>
            <a:r>
              <a:rPr sz="1500" dirty="0">
                <a:latin typeface="Aptos"/>
                <a:cs typeface="Aptos"/>
              </a:rPr>
              <a:t>the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Aptos"/>
                <a:cs typeface="Aptos"/>
              </a:rPr>
              <a:t>GTO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orbit,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appears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to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be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no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relationship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between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flight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number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success.</a:t>
            </a:r>
            <a:endParaRPr sz="1500">
              <a:latin typeface="Aptos"/>
              <a:cs typeface="Aptos"/>
            </a:endParaRPr>
          </a:p>
          <a:p>
            <a:pPr marL="355600" indent="-342900">
              <a:lnSpc>
                <a:spcPct val="100000"/>
              </a:lnSpc>
              <a:spcBef>
                <a:spcPts val="45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1500" spc="-10" dirty="0">
                <a:latin typeface="Aptos"/>
                <a:cs typeface="Aptos"/>
              </a:rPr>
              <a:t>There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were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no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rockets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launched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for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heavypayloadmass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(greater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than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1000)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for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VAFB-</a:t>
            </a:r>
            <a:r>
              <a:rPr sz="1500" spc="-30" dirty="0">
                <a:latin typeface="Aptos"/>
                <a:cs typeface="Aptos"/>
              </a:rPr>
              <a:t>SLC.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Success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seems</a:t>
            </a:r>
            <a:endParaRPr sz="1500">
              <a:latin typeface="Aptos"/>
              <a:cs typeface="Apto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5894" y="4987294"/>
            <a:ext cx="80117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ptos"/>
                <a:cs typeface="Aptos"/>
              </a:rPr>
              <a:t>to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be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related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to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number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of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flights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on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LEO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Orbit.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However,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there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is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no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relationship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between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flight</a:t>
            </a:r>
            <a:endParaRPr sz="1500">
              <a:latin typeface="Aptos"/>
              <a:cs typeface="Apto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45894" y="5147313"/>
            <a:ext cx="829055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ptos"/>
                <a:cs typeface="Aptos"/>
              </a:rPr>
              <a:t>number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success.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It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recommended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further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investigations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consider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more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variables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to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assess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and</a:t>
            </a:r>
            <a:endParaRPr sz="1500">
              <a:latin typeface="Aptos"/>
              <a:cs typeface="Apt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5894" y="5307333"/>
            <a:ext cx="85699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ptos"/>
                <a:cs typeface="Aptos"/>
              </a:rPr>
              <a:t>determine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if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whether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first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stage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will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land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successfully</a:t>
            </a:r>
            <a:r>
              <a:rPr sz="1500" spc="-1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after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training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machine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learning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model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and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Aptos"/>
                <a:cs typeface="Aptos"/>
              </a:rPr>
              <a:t>use</a:t>
            </a:r>
            <a:endParaRPr sz="1500">
              <a:latin typeface="Aptos"/>
              <a:cs typeface="Apto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5894" y="5467304"/>
            <a:ext cx="51619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ptos"/>
                <a:cs typeface="Aptos"/>
              </a:rPr>
              <a:t>public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information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to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predict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if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SpaceX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will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reuse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Aptos"/>
                <a:cs typeface="Aptos"/>
              </a:rPr>
              <a:t>the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first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Aptos"/>
                <a:cs typeface="Aptos"/>
              </a:rPr>
              <a:t>stage.</a:t>
            </a:r>
            <a:endParaRPr sz="1500"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5503</Words>
  <Application>Microsoft Office PowerPoint</Application>
  <PresentationFormat>Benutzerdefiniert</PresentationFormat>
  <Paragraphs>1107</Paragraphs>
  <Slides>69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69</vt:i4>
      </vt:variant>
    </vt:vector>
  </HeadingPairs>
  <TitlesOfParts>
    <vt:vector size="76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Executive Summary</vt:lpstr>
      <vt:lpstr>Introduction</vt:lpstr>
      <vt:lpstr>PowerPoint-Präsentation</vt:lpstr>
      <vt:lpstr>Collecting SpaceX Data</vt:lpstr>
      <vt:lpstr>Essential EDA Visualizations</vt:lpstr>
      <vt:lpstr>Scrapping Process</vt:lpstr>
      <vt:lpstr>Web Scraping for Data</vt:lpstr>
      <vt:lpstr>Data Wrangling Methodology</vt:lpstr>
      <vt:lpstr>PowerPoint-Präsentation</vt:lpstr>
      <vt:lpstr>EDA with visualization results slides SpaceX Falcon 9 First Stage Landing prediction Assignment Exploring and Preparing Data</vt:lpstr>
      <vt:lpstr>PowerPoint-Präsentation</vt:lpstr>
      <vt:lpstr>TASK 2: Visualize the relationship between Payload Mass and Launch Site</vt:lpstr>
      <vt:lpstr>TASK 4: Visualize the relationship between FlightNumber and Orbit type</vt:lpstr>
      <vt:lpstr>TASK 5: Visualize the relationship between Payload Mass and Orbit type</vt:lpstr>
      <vt:lpstr>TASK 6: Visualize the launch success yearly trend¶</vt:lpstr>
      <vt:lpstr>TASK 7: Create dummy variables to categorical columns</vt:lpstr>
      <vt:lpstr>TASK 8: Cast all numeric columns to float64</vt:lpstr>
      <vt:lpstr># Get the head of the dataframe data.head()</vt:lpstr>
      <vt:lpstr>Using API again to get information about the launches using the ids given for each launch</vt:lpstr>
      <vt:lpstr>Lists to store data from these requests and be used to create a new data frame</vt:lpstr>
      <vt:lpstr>Show the summary of the dataframe</vt:lpstr>
      <vt:lpstr>Task 2: Filter the dataframe to only include Falcon 9 launches¶</vt:lpstr>
      <vt:lpstr>Task 3: Dealing with Missing Values¶</vt:lpstr>
      <vt:lpstr>Predictive Analysis Methodology Slides Complete the Machine Learning Prediction lab</vt:lpstr>
      <vt:lpstr>Standardize the data</vt:lpstr>
      <vt:lpstr>Split the data X and Y into training and test data. Set the parameter test_size to 0.2 and random_state to 2</vt:lpstr>
      <vt:lpstr>Create a logistic Regression Object then Create GridSearchCV object</vt:lpstr>
      <vt:lpstr>Display the best parameters on the validation data and the accuracy on the validation data</vt:lpstr>
      <vt:lpstr>Calculate the Accuracy on the test data using the method score</vt:lpstr>
      <vt:lpstr>Lets look at the confusion matrix:</vt:lpstr>
      <vt:lpstr>Create a support vector machine object &amp; Fit the object to find the best parameters from the dictionary</vt:lpstr>
      <vt:lpstr>Calculate the Accuracy on the test data using the method score</vt:lpstr>
      <vt:lpstr>Plot the confusion Matrix</vt:lpstr>
      <vt:lpstr>Find methods that perform best</vt:lpstr>
      <vt:lpstr>PowerPoint-Präsentation</vt:lpstr>
      <vt:lpstr>PowerPoint-Präsentation</vt:lpstr>
      <vt:lpstr>PowerPoint-Präsentation</vt:lpstr>
      <vt:lpstr>EDA SQL</vt:lpstr>
      <vt:lpstr>ask 1 Display the names of the unique launch sites in the space mission¶</vt:lpstr>
      <vt:lpstr>Task 2 Display 5 records where launch sites begin with the string 'CCA'¶</vt:lpstr>
      <vt:lpstr>Task 3 Display the total payload mass carried by boosters launched by NASA (CRS)</vt:lpstr>
      <vt:lpstr>Task 4¶ Display average payload mass carried by booster version F9 v1.1</vt:lpstr>
      <vt:lpstr>Task 5 List the date when the first succesful landing outcome in ground pad was acheived.¶</vt:lpstr>
      <vt:lpstr>Task 6</vt:lpstr>
      <vt:lpstr>Task 7 List the total number of successful and failure mission outcomes</vt:lpstr>
      <vt:lpstr>Task 8</vt:lpstr>
      <vt:lpstr>PowerPoint-Präsentation</vt:lpstr>
      <vt:lpstr>PowerPoint-Präsentation</vt:lpstr>
      <vt:lpstr>Interactive map results using Folium Interactive map results using Folium</vt:lpstr>
      <vt:lpstr>Generating Maps with Python</vt:lpstr>
      <vt:lpstr>A look at what are the coordinates for each site</vt:lpstr>
      <vt:lpstr>Create a folium map object with an initial center location to be NASA Johnson Space Center at Houston, Texas.</vt:lpstr>
      <vt:lpstr>Generated map with marked launch sites</vt:lpstr>
      <vt:lpstr># Task 2: Mark the success/failed launches for each site on the map</vt:lpstr>
      <vt:lpstr>enhancd map by adding the launch outcomes for each site, and see which sites have high success rates.</vt:lpstr>
      <vt:lpstr>Simplify a map containing many markers having the same coordinate</vt:lpstr>
      <vt:lpstr>Easily Identifiable Launch sites with relatively high success rates</vt:lpstr>
      <vt:lpstr>TASK 3: Calculate the distances between a launch site to its proximities</vt:lpstr>
      <vt:lpstr># Create a marker with distance to a closest city, railway, highway, etc.</vt:lpstr>
      <vt:lpstr># Geocoding: Get coordinates from an address</vt:lpstr>
      <vt:lpstr>PowerPoint-Präsentation</vt:lpstr>
      <vt:lpstr>Plotly dashboard results Slide Hands on Lab build in an Interactive Dashboard with Plotly Dash</vt:lpstr>
      <vt:lpstr>Total Launches by Site</vt:lpstr>
      <vt:lpstr>Total Success Launches by Site</vt:lpstr>
      <vt:lpstr>Correlation between Payload and Success for all sites</vt:lpstr>
      <vt:lpstr>Predictive analysis (classification) results slides Predictive analysis (classification) results slides</vt:lpstr>
      <vt:lpstr>Load the dataframe</vt:lpstr>
      <vt:lpstr>x.head(100)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2026-04-27T01:12:56Z</dcterms:created>
  <dcterms:modified xsi:type="dcterms:W3CDTF">2026-04-27T01:12:58Z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LastSaved">
    <vt:filetime>2026-04-27T00:00:00Z</vt:filetime>
  </property>
</Properties>
</file>